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41f577ce554461" /><Relationship Type="http://schemas.openxmlformats.org/officeDocument/2006/relationships/extended-properties" Target="/docProps/app.xml" Id="Ra1cb00ee2fdc4187" /><Relationship Type="http://schemas.openxmlformats.org/officeDocument/2006/relationships/officeDocument" Target="/ppt/presentation.xml" Id="R48c7da16e38f46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516134098434d"/>
  </p:sldMasterIdLst>
  <p:notesMasterIdLst>
    <p:notesMasterId xmlns:r="http://schemas.openxmlformats.org/officeDocument/2006/relationships" r:id="R7934a73f0c754419"/>
  </p:notesMasterIdLst>
  <p:sldIdLst>
    <p:sldId xmlns:r="http://schemas.openxmlformats.org/officeDocument/2006/relationships" id="256" r:id="Rd58c7ca6f4b147ea"/>
    <p:sldId xmlns:r="http://schemas.openxmlformats.org/officeDocument/2006/relationships" id="257" r:id="Re47eb20170f44be3"/>
    <p:sldId xmlns:r="http://schemas.openxmlformats.org/officeDocument/2006/relationships" id="258" r:id="R89ef3ff8883a4638"/>
    <p:sldId xmlns:r="http://schemas.openxmlformats.org/officeDocument/2006/relationships" id="259" r:id="Rbd20b799f655495b"/>
    <p:sldId xmlns:r="http://schemas.openxmlformats.org/officeDocument/2006/relationships" id="260" r:id="R3f79414995c34d57"/>
    <p:sldId xmlns:r="http://schemas.openxmlformats.org/officeDocument/2006/relationships" id="261" r:id="R774e9e23e9894555"/>
    <p:sldId xmlns:r="http://schemas.openxmlformats.org/officeDocument/2006/relationships" id="262" r:id="R5c5e8e6f2bed42be"/>
    <p:sldId xmlns:r="http://schemas.openxmlformats.org/officeDocument/2006/relationships" id="263" r:id="Ra0cd62dd81874e1a"/>
    <p:sldId xmlns:r="http://schemas.openxmlformats.org/officeDocument/2006/relationships" id="264" r:id="R5a5509f97d2b4e01"/>
    <p:sldId xmlns:r="http://schemas.openxmlformats.org/officeDocument/2006/relationships" id="265" r:id="R47abcfce077745cf"/>
    <p:sldId xmlns:r="http://schemas.openxmlformats.org/officeDocument/2006/relationships" id="266" r:id="Ref742d780ce14f2a"/>
    <p:sldId xmlns:r="http://schemas.openxmlformats.org/officeDocument/2006/relationships" id="267" r:id="R167fe59a90cf404a"/>
    <p:sldId xmlns:r="http://schemas.openxmlformats.org/officeDocument/2006/relationships" id="268" r:id="R66824fe30ad9409d"/>
    <p:sldId xmlns:r="http://schemas.openxmlformats.org/officeDocument/2006/relationships" id="269" r:id="Rf78f6806540c485d"/>
    <p:sldId xmlns:r="http://schemas.openxmlformats.org/officeDocument/2006/relationships" id="270" r:id="Rfbc2d49ff30c4efd"/>
    <p:sldId xmlns:r="http://schemas.openxmlformats.org/officeDocument/2006/relationships" id="271" r:id="Rc9ccf514595547e9"/>
    <p:sldId xmlns:r="http://schemas.openxmlformats.org/officeDocument/2006/relationships" id="272" r:id="R57858cda95d34c36"/>
    <p:sldId xmlns:r="http://schemas.openxmlformats.org/officeDocument/2006/relationships" id="273" r:id="R1f74f315cc4c43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0f2634faac4fef" /><Relationship Type="http://schemas.openxmlformats.org/officeDocument/2006/relationships/slideMaster" Target="/ppt/slideMasters/slideMaster1.xml" Id="Rebb516134098434d" /><Relationship Type="http://schemas.openxmlformats.org/officeDocument/2006/relationships/notesMaster" Target="/ppt/notesMasters/notesMaster1.xml" Id="R7934a73f0c754419" /><Relationship Type="http://schemas.openxmlformats.org/officeDocument/2006/relationships/presProps" Target="/ppt/presProps.xml" Id="R8a03acd285db40b8" /><Relationship Type="http://schemas.openxmlformats.org/officeDocument/2006/relationships/tableStyles" Target="/ppt/tableStyles.xml" Id="R83bd945c32d04f60" /><Relationship Type="http://schemas.openxmlformats.org/officeDocument/2006/relationships/slide" Target="/ppt/slides/slide1.xml" Id="Rd58c7ca6f4b147ea" /><Relationship Type="http://schemas.openxmlformats.org/officeDocument/2006/relationships/slide" Target="/ppt/slides/slide2.xml" Id="Re47eb20170f44be3" /><Relationship Type="http://schemas.openxmlformats.org/officeDocument/2006/relationships/slide" Target="/ppt/slides/slide3.xml" Id="R89ef3ff8883a4638" /><Relationship Type="http://schemas.openxmlformats.org/officeDocument/2006/relationships/slide" Target="/ppt/slides/slide4.xml" Id="Rbd20b799f655495b" /><Relationship Type="http://schemas.openxmlformats.org/officeDocument/2006/relationships/slide" Target="/ppt/slides/slide5.xml" Id="R3f79414995c34d57" /><Relationship Type="http://schemas.openxmlformats.org/officeDocument/2006/relationships/slide" Target="/ppt/slides/slide6.xml" Id="R774e9e23e9894555" /><Relationship Type="http://schemas.openxmlformats.org/officeDocument/2006/relationships/slide" Target="/ppt/slides/slide7.xml" Id="R5c5e8e6f2bed42be" /><Relationship Type="http://schemas.openxmlformats.org/officeDocument/2006/relationships/slide" Target="/ppt/slides/slide8.xml" Id="Ra0cd62dd81874e1a" /><Relationship Type="http://schemas.openxmlformats.org/officeDocument/2006/relationships/slide" Target="/ppt/slides/slide9.xml" Id="R5a5509f97d2b4e01" /><Relationship Type="http://schemas.openxmlformats.org/officeDocument/2006/relationships/slide" Target="/ppt/slides/slide10.xml" Id="R47abcfce077745cf" /><Relationship Type="http://schemas.openxmlformats.org/officeDocument/2006/relationships/slide" Target="/ppt/slides/slide11.xml" Id="Ref742d780ce14f2a" /><Relationship Type="http://schemas.openxmlformats.org/officeDocument/2006/relationships/slide" Target="/ppt/slides/slide12.xml" Id="R167fe59a90cf404a" /><Relationship Type="http://schemas.openxmlformats.org/officeDocument/2006/relationships/slide" Target="/ppt/slides/slide13.xml" Id="R66824fe30ad9409d" /><Relationship Type="http://schemas.openxmlformats.org/officeDocument/2006/relationships/slide" Target="/ppt/slides/slide14.xml" Id="Rf78f6806540c485d" /><Relationship Type="http://schemas.openxmlformats.org/officeDocument/2006/relationships/slide" Target="/ppt/slides/slide15.xml" Id="Rfbc2d49ff30c4efd" /><Relationship Type="http://schemas.openxmlformats.org/officeDocument/2006/relationships/slide" Target="/ppt/slides/slide16.xml" Id="Rc9ccf514595547e9" /><Relationship Type="http://schemas.openxmlformats.org/officeDocument/2006/relationships/slide" Target="/ppt/slides/slide17.xml" Id="R57858cda95d34c36" /><Relationship Type="http://schemas.openxmlformats.org/officeDocument/2006/relationships/slide" Target="/ppt/slides/slide18.xml" Id="R1f74f315cc4c43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70310de58443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3361273610480d" /><Relationship Type="http://schemas.openxmlformats.org/officeDocument/2006/relationships/notesMaster" Target="/ppt/notesMasters/notesMaster1.xml" Id="R43139e81489146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f0b12172894b90" /><Relationship Type="http://schemas.openxmlformats.org/officeDocument/2006/relationships/notesMaster" Target="/ppt/notesMasters/notesMaster1.xml" Id="Rfda1365f1e2b4c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817d571517482b" /><Relationship Type="http://schemas.openxmlformats.org/officeDocument/2006/relationships/notesMaster" Target="/ppt/notesMasters/notesMaster1.xml" Id="Re1beb880651d42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6f00b4fd5a4e0c" /><Relationship Type="http://schemas.openxmlformats.org/officeDocument/2006/relationships/notesMaster" Target="/ppt/notesMasters/notesMaster1.xml" Id="R90b3cb2ec9754d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dd037554f1491a" /><Relationship Type="http://schemas.openxmlformats.org/officeDocument/2006/relationships/notesMaster" Target="/ppt/notesMasters/notesMaster1.xml" Id="Rf922441a34f544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1bfc19385c4efd" /><Relationship Type="http://schemas.openxmlformats.org/officeDocument/2006/relationships/notesMaster" Target="/ppt/notesMasters/notesMaster1.xml" Id="R35a5860f7fe045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60ecf2eb8f4335" /><Relationship Type="http://schemas.openxmlformats.org/officeDocument/2006/relationships/notesMaster" Target="/ppt/notesMasters/notesMaster1.xml" Id="Rd005b51a9dd74f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6525d9d7e247ad" /><Relationship Type="http://schemas.openxmlformats.org/officeDocument/2006/relationships/notesMaster" Target="/ppt/notesMasters/notesMaster1.xml" Id="R0fbfb281f56048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ac6f2f1aee4074" /><Relationship Type="http://schemas.openxmlformats.org/officeDocument/2006/relationships/notesMaster" Target="/ppt/notesMasters/notesMaster1.xml" Id="Rd61520623b6348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6e8300ca284230" /><Relationship Type="http://schemas.openxmlformats.org/officeDocument/2006/relationships/notesMaster" Target="/ppt/notesMasters/notesMaster1.xml" Id="Ra4e219ed7b4a42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5498c15c854458" /><Relationship Type="http://schemas.openxmlformats.org/officeDocument/2006/relationships/notesMaster" Target="/ppt/notesMasters/notesMaster1.xml" Id="R0f90bb7079c049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59f50a1c1f4275" /><Relationship Type="http://schemas.openxmlformats.org/officeDocument/2006/relationships/notesMaster" Target="/ppt/notesMasters/notesMaster1.xml" Id="R4f559c46df3e41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1bc76484ec4794" /><Relationship Type="http://schemas.openxmlformats.org/officeDocument/2006/relationships/notesMaster" Target="/ppt/notesMasters/notesMaster1.xml" Id="R36eba3aa082144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b87e19b8c254efe" /><Relationship Type="http://schemas.openxmlformats.org/officeDocument/2006/relationships/notesMaster" Target="/ppt/notesMasters/notesMaster1.xml" Id="R09460d417a9847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728008c2784e78" /><Relationship Type="http://schemas.openxmlformats.org/officeDocument/2006/relationships/notesMaster" Target="/ppt/notesMasters/notesMaster1.xml" Id="R9da40ce7df6f49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bdc87729d94b9e" /><Relationship Type="http://schemas.openxmlformats.org/officeDocument/2006/relationships/notesMaster" Target="/ppt/notesMasters/notesMaster1.xml" Id="R884314e1191644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f61da064f04b85" /><Relationship Type="http://schemas.openxmlformats.org/officeDocument/2006/relationships/notesMaster" Target="/ppt/notesMasters/notesMaster1.xml" Id="R1036ff48881144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7bf15c037345bf" /><Relationship Type="http://schemas.openxmlformats.org/officeDocument/2006/relationships/notesMaster" Target="/ppt/notesMasters/notesMaster1.xml" Id="R19917121e2a345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la transformation globale : un laboratoire local est devenu une plateforme hébergée, autonome et extensible.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VERSION-1.1.0/documentation/ARCHITECTURE.md</a:t>
            </a:r>
          </a:p>
          <a:p xmlns:a="http://schemas.openxmlformats.org/drawingml/2006/main">
            <a:r>
              <a:t>VERSION-1.1.0/documentation/NOTES-DE-VERSION.md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la séparation : le VPS est le cœur, le PC et les VM sont des sources distantes optionnelles.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Rappeler que l’ancienne architecture n’était pas mauvaise : elle a rempli son rôle pédagogique.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VERSION-1.1.0/schemas/evolution-v1.0-vers-v1.1.svg</a:t>
            </a:r>
          </a:p>
          <a:p xmlns:a="http://schemas.openxmlformats.org/drawingml/2006/main">
            <a:r>
              <a:t>VERSION-1.1.0/documentation/NOTES-DE-VERSION.md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que la migration change le rôle des machines, pas seulement leur adresse 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VERSION-1.1.0/documentation/NOTES-DE-VERSION.md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diapositive sert de fil conducteur pour la suite de la présentation.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VERSION-1.1.0/documentation/NOTES-DE-VERSION.md</a:t>
            </a:r>
          </a:p>
          <a:p xmlns:a="http://schemas.openxmlformats.org/drawingml/2006/main">
            <a:r>
              <a:t>VERSION-1.1.0/documentation/INSTALLATION.md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Décrire le schéma du haut vers le bas : accès public, VPS, puis extensions privées.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VERSION-1.1.0/schemas/architecture-production.svg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Différencier le tunnel Cloudflare, destiné à la publication, de Tailscale, destiné aux communications privées.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Rappeler les ports : 9182 pour Windows Exporter, 9100 pour Node Exporter.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Clarifier que srv-web et srv-monitoring ne sont plus deux VM de production : leurs fonctions sont consolidées sur le VPS.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cette chaîne comme une usine : capteurs, mémoire, synthèse, exploration, notification.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Répondre explicitement à la question : le VPS Production correspond au serveur OVH et à sa couche Docker.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remarquer que les courbes se remplissent avec le temps : Prometheus doit accumuler plusieurs échantillons.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VERSION-1.1.0/captures/monitoring-pc-emmanuel.png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VM conservent leur intérêt pour les exercices, les tests de restauration et les incidents contrôlés.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VERSION-1.1.0/captures/monitoring-vm-srv-web.png</a:t>
            </a:r>
          </a:p>
          <a:p xmlns:a="http://schemas.openxmlformats.org/drawingml/2006/main">
            <a:r>
              <a:t>VERSION-1.1.0/captures/monitoring-vm-srv-monitoring.png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logique explique pourquoi les extensions sont optionnelles mais le VPS critique.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Distinguer sauvegarde locale, vérification SHA-256 et vraie stratégie hors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VERSION-1.1.0/documentation/SAUVEGARDES-RESTAURATION.md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la sécurité comme des couches complémentaires et non comme un seul outil.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VERSION-1.1.0/documentation/ARCHITECTURE.md</a:t>
            </a:r>
          </a:p>
          <a:p xmlns:a="http://schemas.openxmlformats.org/drawingml/2006/main">
            <a:r>
              <a:t>SECURITY.md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diapositive récapitule toutes les technologies sans entrer dans leur configuration détaillée.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VERSION-1.1.0/documentation/ARCHITECTURE.md</a:t>
            </a:r>
          </a:p>
          <a:p xmlns:a="http://schemas.openxmlformats.org/drawingml/2006/main">
            <a:r>
              <a:t>VERSION-1.1.0/documentation/INSTALLATION.md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Conclure en rappelant le chemin parcouru et la logique d’ensemble.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VERSION-1.1.0/documentation/NOTES-DE-VERSION.md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939dba81644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9e5f10991b42c3" /><Relationship Type="http://schemas.openxmlformats.org/officeDocument/2006/relationships/slideLayout" Target="/ppt/slideLayouts/slideLayout1.xml" Id="Rb500707c771447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00707c771447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94bcffca440be" /><Relationship Type="http://schemas.openxmlformats.org/officeDocument/2006/relationships/notesSlide" Target="/ppt/notesSlides/notesSlide1.xml" Id="Rffb21ca29f344a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486da0e6545b9" /><Relationship Type="http://schemas.openxmlformats.org/officeDocument/2006/relationships/notesSlide" Target="/ppt/notesSlides/notesSlide2.xml" Id="R501534b5775f4b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e66ffa6a44ae7" /><Relationship Type="http://schemas.openxmlformats.org/officeDocument/2006/relationships/notesSlide" Target="/ppt/notesSlides/notesSlide3.xml" Id="Re6e18f1bbd6142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d9b19b2e64232" /><Relationship Type="http://schemas.openxmlformats.org/officeDocument/2006/relationships/notesSlide" Target="/ppt/notesSlides/notesSlide4.xml" Id="Rebf53b2a87454a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58fb375b14e52" /><Relationship Type="http://schemas.openxmlformats.org/officeDocument/2006/relationships/notesSlide" Target="/ppt/notesSlides/notesSlide5.xml" Id="R564e788cc8644d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28912ea9c480c" /><Relationship Type="http://schemas.openxmlformats.org/officeDocument/2006/relationships/image" Target="/ppt/media/image.png" Id="R9e426310651c48ef" /><Relationship Type="http://schemas.openxmlformats.org/officeDocument/2006/relationships/notesSlide" Target="/ppt/notesSlides/notesSlide6.xml" Id="R2d05e77640cd4d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680a2dd6b4e7e" /><Relationship Type="http://schemas.openxmlformats.org/officeDocument/2006/relationships/notesSlide" Target="/ppt/notesSlides/notesSlide7.xml" Id="R60bc8d8d11a44f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3c14b899841ef" /><Relationship Type="http://schemas.openxmlformats.org/officeDocument/2006/relationships/notesSlide" Target="/ppt/notesSlides/notesSlide8.xml" Id="R90402c0d58864e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87d2767ed433e" /><Relationship Type="http://schemas.openxmlformats.org/officeDocument/2006/relationships/notesSlide" Target="/ppt/notesSlides/notesSlide9.xml" Id="R76648584d40446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a6310a9b54e28" /><Relationship Type="http://schemas.openxmlformats.org/officeDocument/2006/relationships/notesSlide" Target="/ppt/notesSlides/notesSlide10.xml" Id="Rdcdc2c8ec6994d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be4053d7b4e1e" /><Relationship Type="http://schemas.openxmlformats.org/officeDocument/2006/relationships/notesSlide" Target="/ppt/notesSlides/notesSlide11.xml" Id="Rcfa46b87608045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708cfb7714ad9" /><Relationship Type="http://schemas.openxmlformats.org/officeDocument/2006/relationships/image" Target="/ppt/media/image2.png" Id="Rfd1d53c40d164d11" /><Relationship Type="http://schemas.openxmlformats.org/officeDocument/2006/relationships/notesSlide" Target="/ppt/notesSlides/notesSlide12.xml" Id="R0dbcbfa7a10c4a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d9d5a5324414a" /><Relationship Type="http://schemas.openxmlformats.org/officeDocument/2006/relationships/image" Target="/ppt/media/image3.png" Id="R36db82a513e0452a" /><Relationship Type="http://schemas.openxmlformats.org/officeDocument/2006/relationships/image" Target="/ppt/media/image4.png" Id="Rcfe659fbc8c14464" /><Relationship Type="http://schemas.openxmlformats.org/officeDocument/2006/relationships/notesSlide" Target="/ppt/notesSlides/notesSlide13.xml" Id="Rb0fb6fb9859d44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e9a02b4bf49ee" /><Relationship Type="http://schemas.openxmlformats.org/officeDocument/2006/relationships/notesSlide" Target="/ppt/notesSlides/notesSlide14.xml" Id="Re4884a806ae34b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01887adfc4cbb" /><Relationship Type="http://schemas.openxmlformats.org/officeDocument/2006/relationships/notesSlide" Target="/ppt/notesSlides/notesSlide15.xml" Id="Rf0d72d1aa4c54b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a79625cd34f61" /><Relationship Type="http://schemas.openxmlformats.org/officeDocument/2006/relationships/notesSlide" Target="/ppt/notesSlides/notesSlide16.xml" Id="R6cf7f0f1ebe745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cfa746ab84120" /><Relationship Type="http://schemas.openxmlformats.org/officeDocument/2006/relationships/notesSlide" Target="/ppt/notesSlides/notesSlide17.xml" Id="R21e601f974024b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1c787daf74c4c" /><Relationship Type="http://schemas.openxmlformats.org/officeDocument/2006/relationships/notesSlide" Target="/ppt/notesSlides/notesSlide18.xml" Id="R5896c99468544a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6382F-DEF3-4356-920C-8B69AD3C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3C632-F5D6-433F-8DDD-78C29714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609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9525">
            <a:solidFill>
              <a:srgbClr val="1769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95BF4-BC33-475D-BB9D-8A1F3152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DOSSIER VISUEL • VERSION 1.1.0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7B3C5-6C66-4A19-AFCC-D7B127DC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Secure Local 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04EA7-2916-4AD0-B94B-4F60BAB5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BD1F7"/>
                </a:solidFill>
              </a:defRPr>
            </a:pPr>
            <a:r>
              <a:rPr sz="2325" b="1">
                <a:solidFill>
                  <a:srgbClr val="BBD1F7"/>
                </a:solidFill>
              </a:rPr>
              <a:t>Du laboratoire VMware au VPS autonome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CC527-36FE-4C86-8DA9-650F84AD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00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3F8"/>
                </a:solidFill>
              </a:defRPr>
            </a:pPr>
            <a:r>
              <a:rPr sz="1500" b="0">
                <a:solidFill>
                  <a:srgbClr val="D6E3F8"/>
                </a:solidFill>
              </a:rPr>
              <a:t>Comprendre l’architecture, les technologies, la migration, le monitoring et les sauvegardes.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20347-E50B-406E-A70E-93018665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00125"/>
            <a:ext cx="3714750" cy="4191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2746"/>
          </a:solidFill>
          <a:ln xmlns:a="http://schemas.openxmlformats.org/drawingml/2006/main" w="9525">
            <a:solidFill>
              <a:srgbClr val="294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1DB69-590E-4392-83D0-048C351B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43A7E-BC25-4788-93B1-A21DBDBB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097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472A7-60D4-41E5-A33F-9E6E6ED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097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B5B4A-1B23-4E7A-A993-0741A429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049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Cloudflare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5E56C-1E8B-4C3E-995D-BF95616D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Entrée publique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590C2-2EA9-4D74-8DE9-E7AA8889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5AC16-EAF7-45C0-9ACD-6007C323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F712A-EA3E-455B-BCA1-55789F17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611C1-B980-46B2-A515-BBC5744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98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VPS Production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A9563-3EB6-4C2C-A2B8-16EE5CDF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384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Cœur permanent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294B5-F8BE-4135-893A-00036AA9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61534-B983-4FC7-9ADF-B0A2FB60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194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DFF"/>
          </a:solidFill>
          <a:ln xmlns:a="http://schemas.openxmlformats.org/drawingml/2006/main" w="0">
            <a:solidFill>
              <a:srgbClr val="7C4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9D25E-E447-438E-9454-C1BF7A03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194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33C876-6C67-4291-8C66-DD334B2B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147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PC Emmanuel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D0B1F-CA41-467F-A219-F107CAA5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Extension Windows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96A064-50B6-4B75-9E7C-E58DBAE4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43375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9AF4C-5A2A-4751-A0C2-9A70598E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0706E-AE04-488B-B764-7B7D0243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FCBEE-33D1-4C69-861C-537C002E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195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2 VM VMware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FA6321-7138-49CC-9F18-E9AF4A55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4817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Laboratoire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7DE946-A359-4E08-9D3D-A4B359DC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5D8"/>
                </a:solidFill>
              </a:defRPr>
            </a:pPr>
            <a:r>
              <a:rPr sz="1050" b="0">
                <a:solidFill>
                  <a:srgbClr val="9FB5D8"/>
                </a:solidFill>
              </a:rPr>
              <a:t>Emmanuel Christian MBOK BATOUM • Août 2026</a:t>
            </a:r>
          </a:p>
        </p:txBody>
      </p:sp>
    </p:spTree>
    <p:extLst>
      <p:ext uri="{BB962C8B-B14F-4D97-AF65-F5344CB8AC3E}">
        <p14:creationId xmlns:p14="http://schemas.microsoft.com/office/powerpoint/2010/main" val="1033858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BEAE14-3E64-41A8-8552-7BF6E1C5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5CD92-8E5B-4F15-934D-60B8F218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LA PHRASE À RETENIR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7CE33-65B8-4C10-8DF6-073009DE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Un cœur permanent, trois extensions supervisées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5BD98-3E8C-4C48-9E45-111A3A7D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Le VPS porte la plateforme. Les autres machines lui envoient leurs mesures via un réseau privé.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CA626-8637-4D6F-B00F-C9CC97EE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321CD-B54E-41B8-B219-DB26ABB9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10382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1830"/>
          </a:solidFill>
          <a:ln xmlns:a="http://schemas.openxmlformats.org/drawingml/2006/main" w="9525">
            <a:solidFill>
              <a:srgbClr val="0B18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586C2-A240-46CE-BBC6-5DDFDCA7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05125"/>
            <a:ext cx="26193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C193C-ABCB-4E91-AF7B-D8E70E1D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86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D5764-0ED9-4625-82BA-987C8675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861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8A03E-BB82-4936-AE0A-275C23FF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813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VPS Production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D2756-C6A0-43BA-B523-4E4A2E23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99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Portail + observabilité + stockage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A38FD-B603-44DF-A732-C108B8C0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61149-5DAB-4532-AEF6-E7A5D92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2333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FCC35-7D2D-4DFB-91AD-7C97D0F5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DFF"/>
          </a:solidFill>
          <a:ln xmlns:a="http://schemas.openxmlformats.org/drawingml/2006/main" w="0">
            <a:solidFill>
              <a:srgbClr val="7C4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18186-9ABB-443B-96BF-D04C5EF9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19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8A277-811E-4879-8C1F-74D94734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1457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PC Emmanuel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275AA-5A65-4E57-B1CD-B16ED891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431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Windows + batterie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A14C1-B85C-41A6-8976-010DE55D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95625"/>
            <a:ext cx="2333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8A30C-0BC0-40DD-A51F-F6523F25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76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198C6-E1F2-4CAB-B827-D42A9DC4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FC3C8-FEA5-4EFF-A4EF-895935F5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718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VM srv-web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D6F80-845F-4FBE-86CE-82F990E5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00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Laboratoire applicatif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733477-D957-4ABE-B634-874BE58C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52875"/>
            <a:ext cx="2333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B368B-A38B-45BA-8832-75348D1D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33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273AA-DD01-4556-9774-C374773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338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DF7EDA-77C8-433F-9F48-036286A3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2907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VM srv-monitoring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F8FA5-E407-46A5-A73F-6C6B05F5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2576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Laboratoire observabilité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8C6F1-934F-4D61-BDEC-292D541F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0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DDF8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81CA4-5BAE-4B32-8929-81B28579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100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AD7A"/>
                </a:solidFill>
              </a:defRPr>
            </a:pPr>
            <a:r>
              <a:rPr sz="975" b="1">
                <a:solidFill>
                  <a:srgbClr val="0EAD7A"/>
                </a:solidFill>
              </a:rPr>
              <a:t>Toujours actif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41507-EF57-4343-A8A4-A98AEE44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D9F4"/>
                </a:solidFill>
              </a:defRPr>
            </a:pPr>
            <a:r>
              <a:rPr sz="1050" b="1">
                <a:solidFill>
                  <a:srgbClr val="C9D9F4"/>
                </a:solidFill>
              </a:rPr>
              <a:t>Tailscale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515383-9242-46EC-8489-3A5AA500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C34"/>
                </a:solidFill>
              </a:defRPr>
            </a:pPr>
            <a:r>
              <a:rPr sz="1425" b="1">
                <a:solidFill>
                  <a:srgbClr val="101C34"/>
                </a:solidFill>
              </a:rPr>
              <a:t>Prometheus collecte • Flask explique • Grafana explore • Alertmanager alerte</a:t>
            </a:r>
          </a:p>
        </p:txBody>
      </p:sp>
    </p:spTree>
    <p:extLst>
      <p:ext uri="{BB962C8B-B14F-4D97-AF65-F5344CB8AC3E}">
        <p14:creationId xmlns:p14="http://schemas.microsoft.com/office/powerpoint/2010/main" val="772136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BB3031-EC85-4DB8-B074-F16F3C28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405EE-8569-4426-838A-E31AF911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ÉTAPE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5792A-F472-423F-90D2-4764A3FC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D’où nous sommes partis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A0C31-56CC-47F1-8C3C-A23F1ABA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Un laboratoire local utile pour apprendre, mais totalement dépendant du PC physique.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B71D3-ADC0-4558-8471-3AF33DE8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C6245-8362-495B-87D1-96F741F2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2952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9BCC4-B65D-42D9-BFF0-210917CA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717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DFF"/>
          </a:solidFill>
          <a:ln xmlns:a="http://schemas.openxmlformats.org/drawingml/2006/main" w="0">
            <a:solidFill>
              <a:srgbClr val="7C4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2FEFA-17A3-4C72-9243-6C6CF23C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717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9BEA9-B86F-4807-97F2-0A79134F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669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PC Emmanuel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DF94E-D8CE-4929-8732-FE9B6A76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95550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Windows 11 + VMware Workstation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224E2-16E5-44D4-B0F1-7CB05C1B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1096F-B97A-4465-8B48-F5DC63D3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3A311-6C53-455F-B856-22367717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33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2D3FD-1E8C-4E14-A66E-FB7FE18D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33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9D716-4FD6-493B-88F3-077B7A03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288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VM srv-web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9CEB9-4A5E-4B5F-810F-E4C408CB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574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Flask • Docker • Nginx • exporters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62ECF-EBE2-445B-BD37-D4997545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05125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03454-2047-4B31-BC55-CB041B02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86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6DB13-801C-4EEC-8CF8-F0D2C586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861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CF23A-00DE-4606-AEFB-94102E74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813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VM srv-monitoring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99CB7-444C-425F-BECC-0896D029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99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Prometheus • Grafana • Alertmanager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E8EB5-DAA7-4B2D-92B8-7C4D180A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5DCA36-229F-49B1-BD9C-FFC140F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4"/>
                </a:solidFill>
              </a:defRPr>
            </a:pPr>
            <a:r>
              <a:rPr sz="1350" b="1">
                <a:solidFill>
                  <a:srgbClr val="101C34"/>
                </a:solidFill>
              </a:rPr>
              <a:t>Dépendance centrale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A4053-B270-4B3C-B436-A8553EFB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28875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E"/>
                </a:solidFill>
              </a:defRPr>
            </a:pPr>
            <a:r>
              <a:rPr sz="1200" b="0">
                <a:solidFill>
                  <a:srgbClr val="61708E"/>
                </a:solidFill>
              </a:rPr>
              <a:t>PC éteint = VM arrêtées = portail indisponible = plus de collecte distante.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F2A107-4A38-44A3-BF30-A69486F5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334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F9E5F-9E92-4665-AAA3-DDB11A17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8"/>
                </a:solidFill>
              </a:defRPr>
            </a:pPr>
            <a:r>
              <a:rPr sz="1200" b="1">
                <a:solidFill>
                  <a:srgbClr val="1769E8"/>
                </a:solidFill>
              </a:rPr>
              <a:t>Valeur du laboratoire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45198-7768-4131-8B93-B83B3D3B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C34"/>
                </a:solidFill>
              </a:defRPr>
            </a:pPr>
            <a:r>
              <a:rPr sz="1350" b="0">
                <a:solidFill>
                  <a:srgbClr val="101C34"/>
                </a:solidFill>
              </a:rPr>
              <a:t>Découvrir Linux, Docker, Prometheus, Grafana, sauvegardes et sécurité sans coût d’hébergement.</a:t>
            </a:r>
          </a:p>
        </p:txBody>
      </p:sp>
    </p:spTree>
    <p:extLst>
      <p:ext uri="{BB962C8B-B14F-4D97-AF65-F5344CB8AC3E}">
        <p14:creationId xmlns:p14="http://schemas.microsoft.com/office/powerpoint/2010/main" val="1598515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640A8B-F38B-48C9-805C-9AE70A46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32F1D-CE61-4339-A2DB-C2CC6920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ÉTAPE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A9E73-6537-4E2C-8DF3-AE63C815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Pourquoi migrer vers un VPS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95704-0B19-4183-AF9D-8BF0916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Le besoin principal n’était pas plus de puissance : c’était l’autonomie.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6443E-5778-4698-A20F-8B76FA86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1B67B-E89C-4933-84E5-7A5616F5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3190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C459B-4637-4CAD-AB63-363FF6D8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181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29583-DEC0-4AC9-BA8A-2D2EEF4A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181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8C790-35D5-412B-B8AD-FCFA8CC3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764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Disponibilité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D562C-8B5B-4312-946C-D073B16B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305050"/>
            <a:ext cx="2524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Accessible même si le PC est éteint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E6997-97D7-4CE4-BA57-2F8EB6F7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190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549F7-400E-4EB9-8BE2-597E52F2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81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42108-D2A0-4B06-8450-7F925342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81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3DA50-C9C0-459A-9027-C46F2203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764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Adresse stable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4CD03-9007-489C-8D8A-BED36FAE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05050"/>
            <a:ext cx="2524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Une IP publique et un domaine permanent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07C6A-D6FB-473B-A33C-CAD1F1F4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00250"/>
            <a:ext cx="3190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21A3C-D997-4E9D-9F3E-DB452554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81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DFF"/>
          </a:solidFill>
          <a:ln xmlns:a="http://schemas.openxmlformats.org/drawingml/2006/main" w="0">
            <a:solidFill>
              <a:srgbClr val="7C4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F4676-D1E7-47BA-A774-D25A9F8B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81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D119C-BA55-4770-B897-DD9E878E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764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Séparation des rôles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B737D-2C8A-41DB-89BF-01115722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05050"/>
            <a:ext cx="2524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Production indépendante du laboratoire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13A35-D9C7-4C02-810C-0ABEDD0E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3190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FDF26-5EE8-45F2-8868-BFB8D59B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24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1A5CB-9E91-496B-8E40-ED5853B3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24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E6959-02CA-4884-8C43-8D65E529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2194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Sécurité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A1FA2-F713-4F67-9535-F6A40B0D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48050"/>
            <a:ext cx="2524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Tunnel public + réseau privé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F18231-3829-4F99-9610-2891BC2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190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C500F8-4396-4DC6-9996-A5A7B567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24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B5B"/>
          </a:solidFill>
          <a:ln xmlns:a="http://schemas.openxmlformats.org/drawingml/2006/main" w="0">
            <a:solidFill>
              <a:srgbClr val="E84B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CF13FE-A83F-471A-B285-E889B63E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24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A20987-0762-44C5-A886-B41E4283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Sauvegardes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0B1BC-E6F0-4C80-BD55-75C5F10F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48050"/>
            <a:ext cx="2524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Planification côté serveur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BAD6C8-31BD-4220-8084-ECF4567E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3190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7F11F-946E-487E-9433-5B5AB6CF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24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9F7"/>
          </a:solidFill>
          <a:ln xmlns:a="http://schemas.openxmlformats.org/drawingml/2006/main" w="0">
            <a:solidFill>
              <a:srgbClr val="4E79F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A467F3-F4F2-46D0-884B-AD9DA728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24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71A90F-5ECF-4D19-8ECC-4C69CEE2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194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Évolutivité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3C8E25-2455-4728-8584-38E4BF7B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48050"/>
            <a:ext cx="2524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Ajouter d’autres projets plus tard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374F56-BEF7-4337-B767-BB512F66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101441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0EAD7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86454B-90DF-4EA9-85D5-338AB3A6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006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D7A"/>
                </a:solidFill>
              </a:defRPr>
            </a:pPr>
            <a:r>
              <a:rPr sz="1125" b="1">
                <a:solidFill>
                  <a:srgbClr val="0EAD7A"/>
                </a:solidFill>
              </a:rPr>
              <a:t>Décision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5ED9E1-EC6A-401C-B2B0-5310E293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149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C34"/>
                </a:solidFill>
              </a:defRPr>
            </a:pPr>
            <a:r>
              <a:rPr sz="1500" b="1">
                <a:solidFill>
                  <a:srgbClr val="101C34"/>
                </a:solidFill>
              </a:rPr>
              <a:t>Le VPS devient la production. Le PC et les VM restent des équipements supervisés et un laboratoire de tests.</a:t>
            </a:r>
          </a:p>
        </p:txBody>
      </p:sp>
    </p:spTree>
    <p:extLst>
      <p:ext uri="{BB962C8B-B14F-4D97-AF65-F5344CB8AC3E}">
        <p14:creationId xmlns:p14="http://schemas.microsoft.com/office/powerpoint/2010/main" val="1614873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834893-85F7-4FE8-B4B8-77F1E0F6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3ABC5-F924-44CA-B7F2-AA7EE430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ÉTAPES DE MIGRATION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374AC-CAA8-44AA-9757-A9634CF7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Une transformation contrôlée, avec validation à chaque étape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B97FB-9950-424A-936E-92A20D2B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Chaque changement important a été testé, sauvegardé et vérifié avant activation.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E05E4-1EB4-4EB3-8CB4-BD3537C7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74C04-5F18-4E98-BE5B-C2446174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03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598C5-0BEC-4092-9889-F2BF601D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75AC7-058D-48C1-B4DA-6280DCC6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A547C-348C-42A6-97B8-C6626962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43275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VPS OVH</a:t>
            </a:r>
          </a:p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Ubuntu 24.04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77CD9-A4DB-44FB-9BC7-53E22225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003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3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73F92-CBF3-4A22-B627-FDC8079C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24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CC4AF-8D03-422D-9E51-F1AE6D03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24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89E5F-74CC-428E-9F8F-AEAC5BCD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343275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SSH + UFW</a:t>
            </a:r>
          </a:p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Docker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BC994-25BB-4AAE-A92E-E976FE6E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03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3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7EA01-8666-4F2F-ABD8-692A49E4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E16D6-5D68-419B-BFBC-913A60AA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58A17-7B90-43A0-B66F-28D35852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43275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Stack complète</a:t>
            </a:r>
          </a:p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Flask + métriques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863C3-54DC-4FBE-AF87-80CA4AB8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C05F8-C9C7-421D-A35E-371EC46C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0987D-3112-4D58-845F-B9CC768A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56621-4F2B-410B-B566-44C3C6BF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43275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Cloudflare</a:t>
            </a:r>
          </a:p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publication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6257B-7824-46C2-B4A9-D3A3ED1C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003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09BB6-3D6B-4249-B6E2-5AC78314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1C03A-4322-45D4-ADE4-D100726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D44EA-3775-4392-9C41-68641AAC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43275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Tailscale</a:t>
            </a:r>
          </a:p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PC + VM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6B0BD-C867-4492-A307-DFB018AF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24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887D36-6973-4601-B0B3-43E42D7D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24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F9197D-FF80-409C-86D2-9426DA10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343275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Sauvegardes</a:t>
            </a:r>
          </a:p>
          <a:p xmlns:a="http://schemas.openxmlformats.org/drawingml/2006/main">
            <a:pPr algn="ctr">
              <a:defRPr sz="1125" b="1">
                <a:solidFill>
                  <a:srgbClr val="101C34"/>
                </a:solidFill>
              </a:defRPr>
            </a:pPr>
            <a:r>
              <a:rPr sz="1125" b="1">
                <a:solidFill>
                  <a:srgbClr val="101C34"/>
                </a:solidFill>
              </a:rPr>
              <a:t>GitHub v1.1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011FC-F149-489B-ABFD-53B1F1BF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8"/>
                </a:solidFill>
              </a:defRPr>
            </a:pPr>
            <a:r>
              <a:rPr sz="1125" b="1">
                <a:solidFill>
                  <a:srgbClr val="1769E8"/>
                </a:solidFill>
              </a:rPr>
              <a:t>Effet final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DA219-EED0-4431-88A1-3FD443B7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23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C34"/>
                </a:solidFill>
              </a:defRPr>
            </a:pPr>
            <a:r>
              <a:rPr sz="1725" b="1">
                <a:solidFill>
                  <a:srgbClr val="101C34"/>
                </a:solidFill>
              </a:rPr>
              <a:t>Le portail reste disponible 24/7, tandis que PC Emmanuel et les VM peuvent se connecter ou s’éteindre sans casser la production.</a:t>
            </a:r>
          </a:p>
        </p:txBody>
      </p:sp>
    </p:spTree>
    <p:extLst>
      <p:ext uri="{BB962C8B-B14F-4D97-AF65-F5344CB8AC3E}">
        <p14:creationId xmlns:p14="http://schemas.microsoft.com/office/powerpoint/2010/main" val="1147891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6950D-C7B0-4614-AD07-DADECB0C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C350A-9A01-4CB1-B326-2E8D69BD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ARCHITECTURE ACTUELLE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F55BE-F9BE-4E88-BDB8-EBC06A0C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Le VPS centralise, Tailscale relie, Cloudflare publie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656F8-48C4-418A-B759-433FFF65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Deux plans de circulation distincts : public et privé.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AD717-22F9-4B67-8C5A-1680B319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26310651c48ef"/>
          <a:stretch xmlns:a="http://schemas.openxmlformats.org/drawingml/2006/main"/>
        </p:blipFill>
        <p:spPr>
          <a:xfrm xmlns:a="http://schemas.openxmlformats.org/drawingml/2006/main">
            <a:off x="2819400" y="1809750"/>
            <a:ext cx="65532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</p:spTree>
    <p:extLst>
      <p:ext uri="{BB962C8B-B14F-4D97-AF65-F5344CB8AC3E}">
        <p14:creationId xmlns:p14="http://schemas.microsoft.com/office/powerpoint/2010/main" val="575640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5CD573-5F65-4A22-A16A-EDC6320F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5C61D-8BC2-4E95-AFF2-970A7CA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FLUX PUBLIC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4BC59-D881-422C-B7DF-280EB1EC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Comment un visiteur atteint la plateforme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55D6A-9D6B-455B-B851-0E1CE0AD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Cloudflare protège l’exposition. Aucun port interne de Prometheus ou Grafana n’est publié directement.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132F3-A1E5-4F9A-98C9-FEB7DBB4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3E9F3-19A5-4317-B401-D5ED70F3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0BA84-EAC2-4C02-A64D-27A9BD56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DFF"/>
          </a:solidFill>
          <a:ln xmlns:a="http://schemas.openxmlformats.org/drawingml/2006/main" w="0">
            <a:solidFill>
              <a:srgbClr val="7C4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1D831-F1B2-4055-A6A2-E2098E7B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39257-3C0E-4DBD-8D55-8EA1C1A5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527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Navigateur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F32E0-0D0B-49C1-83D1-CD3038A1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813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HTTPS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10C86-9C94-4174-87D6-986119B9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098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F5EB0-7BA0-48F7-8879-BDA63BA7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765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9E441-B1C5-419C-9CB4-5EACD2E3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574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EBFAF-4A6B-411B-ADC3-EF3DF2DA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574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7D5F2-A517-454B-B55D-FD7A3E77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527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Cloudflare DNS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B457C-0F69-4999-BB37-A9A4B697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813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Résolution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9DB99-A6DB-4669-93D5-C489A2D6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098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43A39-9096-41A9-AB00-5C1BFCA8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06459-E69E-4D6F-BA6C-67866524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574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B1C67-A587-446F-AFA7-F0622EF6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574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FCC34-57C4-42F6-96CE-258D8A68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527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Cloudflare Tunnel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40813-CC9E-44FB-A57D-5B9E3D2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813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Canal sortant chiffré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239AC-ABB3-4637-8352-FAAEBDB6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70C6AB-FED8-4E2E-A75B-572C324A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765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6DBC5D-3FDC-479E-9A38-78C6F19C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574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F68A2D-6C3E-4297-9CB7-33711FF2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574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1847B1-1568-45E8-9A30-AACB503F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5527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Nginx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45A6FA-2D2F-441D-AEB8-8582E2F6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7813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Reverse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1CAD68-A4DC-4D3E-A5D6-064EEFF7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AE2933-9AC2-447A-BEF6-84F08E81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765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CFEBD8-FF8B-434F-BC73-05C2CD60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574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DB43D0-5E45-4443-B917-1326C2FF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574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01AA48-A5C8-41CC-9956-3601BC19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527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Flask / Grafana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86FD40-EDA6-4F49-9DA3-57437A02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813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Service demandé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ED3C3C-8AAE-4380-BCA9-0745527F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52875"/>
            <a:ext cx="2952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62F310-36AE-4362-99F9-712091BE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9528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app.emmanuelinfra.fr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771BC3-901E-4E34-83FD-7473C506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87630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F2FFD4-CFCD-48E8-AC36-BC41B992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Cloudflare Access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020496-498B-4C0F-8E5B-41FB80B8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863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Les interfaces sensibles comme Grafana et Prometheus peuvent exiger une authentification avant d’atteindre le VPS.</a:t>
            </a:r>
          </a:p>
        </p:txBody>
      </p:sp>
    </p:spTree>
    <p:extLst>
      <p:ext uri="{BB962C8B-B14F-4D97-AF65-F5344CB8AC3E}">
        <p14:creationId xmlns:p14="http://schemas.microsoft.com/office/powerpoint/2010/main" val="1060789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2F4781-74B4-4206-8E42-45EF8B01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C6F9C-5F1A-4C9A-816D-BE87EE8A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FLUX PRIVÉ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C9DD6-3ED4-4B49-AF23-37A78604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Comment les métriques remontent vers le VPS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94A0C-C9D6-4032-A2B3-35656AAD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Tailscale forme un réseau chiffré privé entre quatre machines, sans ouvrir les exporters à Internet.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E143F-3E3F-4C0E-8CCE-99761A7E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ACD45-9A42-4C86-BF3A-6EF91122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38375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14E04-EF62-4B22-B31A-EA311452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766FE-8438-4EC9-A133-3A78295A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19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EBF1B-6FB5-4DD8-9252-02BDCD9D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3145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Prometheus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36DC1-D040-41F5-91A9-421651C7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431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Sur le VPS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27D36-2179-4776-8BAE-1C409601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33750"/>
            <a:ext cx="3105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830"/>
          </a:solidFill>
          <a:ln xmlns:a="http://schemas.openxmlformats.org/drawingml/2006/main" w="9525">
            <a:solidFill>
              <a:srgbClr val="0B18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A3789-03F9-40DF-B8E1-4C4D0005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Réseau Tailscale 100.x.x.x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CDC1B-8EBA-499F-9E0F-94A8D65B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E939B-277B-43FF-9C47-A0E394AC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52875"/>
            <a:ext cx="842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D7275-B749-4264-8B22-DC4256E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5287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855AA-3C55-482F-88FA-D286122A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48D39-21AC-4F18-8EEC-B7EBAD4E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DFF"/>
          </a:solidFill>
          <a:ln xmlns:a="http://schemas.openxmlformats.org/drawingml/2006/main" w="0">
            <a:solidFill>
              <a:srgbClr val="7C4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01143-752E-4C6B-A217-CF40D7D5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177B0-9BDE-4700-A41D-4D7B726E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95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PC Emmanuel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F52F8-02FA-41A5-9B6F-45762765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481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Windows Exporter : 9182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0A312-97A8-47D5-A0C1-06A717D1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5287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151B1-99A8-404D-949F-984D8716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43375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B748F-B974-44F9-A43D-79D04797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324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90EA01-D70E-404F-A80E-4FE62E58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0B65D-5EF5-47C6-8777-263B0ADC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195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VM srv-web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E4C778-B207-4617-A800-2F77DCEE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4481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Node Exporter : 9100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CF58B0-CADA-426A-8A0B-747D78D7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8EF4E4-A355-4922-B678-3D9500AB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D67D4E-E614-472C-9709-F263AE29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24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5E709B-7A76-4D57-9AFA-66077FB8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26944F-7542-44B6-910A-9B40676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95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VM srv-monitoring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54055D-66DB-4EE8-8B2A-BC2DAE07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481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Node Exporter : 9100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15D7E9-0E77-44CB-9D44-64D6DF2E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5287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0BB26-0E47-478D-8179-45BC3CB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43375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3AA257-14F8-4539-B8F6-0DFF2818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24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9984AE-783F-4EB2-B196-F498D439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8F31A4-D8E1-4A24-8B9E-8FC8A4E3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195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VPS lui-même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B25C75-A223-4000-B36B-9161C78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481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Node Exporter + cAdvisor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0EBF2D-023B-4DEA-A1D2-B134FFA9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C34"/>
                </a:solidFill>
              </a:defRPr>
            </a:pPr>
            <a:r>
              <a:rPr sz="1425" b="1">
                <a:solidFill>
                  <a:srgbClr val="101C34"/>
                </a:solidFill>
              </a:rPr>
              <a:t>Le pare-feu de chaque machine autorise uniquement l’adresse Tailscale du VPS.</a:t>
            </a:r>
          </a:p>
        </p:txBody>
      </p:sp>
    </p:spTree>
    <p:extLst>
      <p:ext uri="{BB962C8B-B14F-4D97-AF65-F5344CB8AC3E}">
        <p14:creationId xmlns:p14="http://schemas.microsoft.com/office/powerpoint/2010/main" val="1341281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6B9F5-32AC-41D7-9757-945B710B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70A70-CD0C-4A39-B85F-B1592ADA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LE VPS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1CC43-FA10-485D-9BE0-411EBE78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Ce qu’il contient réellement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3C4CA-CFE0-4499-B1FA-8A5F0973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Un seul serveur physique virtuel, plusieurs services séparés en conteneurs.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0F31C-F473-4788-B27F-EE404F25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DCBC6-EB0F-4158-815B-E9BEEF1E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0191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830"/>
          </a:solidFill>
          <a:ln xmlns:a="http://schemas.openxmlformats.org/drawingml/2006/main" w="9525">
            <a:solidFill>
              <a:srgbClr val="0B18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0C6A2-E7F2-4D5E-BD93-3BEB68A3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OVH VPS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CB8DD-BFCE-419E-887E-8FE0A7DF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193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8FF"/>
                </a:solidFill>
              </a:defRPr>
            </a:pPr>
            <a:r>
              <a:rPr sz="1275" b="0">
                <a:solidFill>
                  <a:srgbClr val="DCE8FF"/>
                </a:solidFill>
              </a:rPr>
              <a:t>4 vCore • 8 Go RAM • 75 Go NVMe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D138F-B42C-439F-ADC7-F0C71A08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10191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02569-27C6-416C-A563-29AC6469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E8"/>
                </a:solidFill>
              </a:defRPr>
            </a:pPr>
            <a:r>
              <a:rPr sz="1500" b="1">
                <a:solidFill>
                  <a:srgbClr val="1769E8"/>
                </a:solidFill>
              </a:rPr>
              <a:t>Ubuntu 24.04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DDD1B-16F6-4104-AB80-7C4B7221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C34"/>
                </a:solidFill>
              </a:defRPr>
            </a:pPr>
            <a:r>
              <a:rPr sz="1275" b="0">
                <a:solidFill>
                  <a:srgbClr val="101C34"/>
                </a:solidFill>
              </a:rPr>
              <a:t>SSH • UFW • systemd • Tailscale • cloudflared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A4586-92EB-413E-B004-2AA97B01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10191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10467-0FBC-42F4-8D2D-A75F20DE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4DFF"/>
                </a:solidFill>
              </a:defRPr>
            </a:pPr>
            <a:r>
              <a:rPr sz="1500" b="1">
                <a:solidFill>
                  <a:srgbClr val="7C4DFF"/>
                </a:solidFill>
              </a:rPr>
              <a:t>Docker Compose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828AA-2992-4392-8D30-10452F64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243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C34"/>
                </a:solidFill>
              </a:defRPr>
            </a:pPr>
            <a:r>
              <a:rPr sz="1275" b="0">
                <a:solidFill>
                  <a:srgbClr val="101C34"/>
                </a:solidFill>
              </a:rPr>
              <a:t>Réseau privé + volumes persistants + redémarrage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F179B-67F0-4AD6-9BD7-405798E6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191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A7E66-68A5-4853-8511-D72C0A2E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AD7A"/>
                </a:solidFill>
              </a:defRPr>
            </a:pPr>
            <a:r>
              <a:rPr sz="1500" b="1">
                <a:solidFill>
                  <a:srgbClr val="0EAD7A"/>
                </a:solidFill>
              </a:rPr>
              <a:t>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6F989-6147-4648-ACB6-7B8137E2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768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C34"/>
                </a:solidFill>
              </a:defRPr>
            </a:pPr>
            <a:r>
              <a:rPr sz="1275" b="0">
                <a:solidFill>
                  <a:srgbClr val="101C34"/>
                </a:solidFill>
              </a:rPr>
              <a:t>Flask/Gunicorn • Nginx • Prometheus • Grafana • Alertmanager • Node Exporter • cAdvisor</a:t>
            </a:r>
          </a:p>
        </p:txBody>
      </p:sp>
    </p:spTree>
    <p:extLst>
      <p:ext uri="{BB962C8B-B14F-4D97-AF65-F5344CB8AC3E}">
        <p14:creationId xmlns:p14="http://schemas.microsoft.com/office/powerpoint/2010/main" val="13107866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0EB383-5962-46D5-8EBF-F66A2102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4C2F6-94EC-46EF-B734-1A48164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CHAÎNE DE SUPERVISION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2A36D-F33F-4CFF-85C7-99FE898A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De la mesure à la décision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2BFE0-16A3-480F-9C18-7C4200D3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Les outils ont chacun une responsabilité précise et complémentaire.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0FA15-7751-40D3-B61A-ED2344B1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8E38F-462F-4BC5-BD57-CB2E0BC7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BBC58-101D-4934-ACDF-24600409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DFF"/>
          </a:solidFill>
          <a:ln xmlns:a="http://schemas.openxmlformats.org/drawingml/2006/main" w="0">
            <a:solidFill>
              <a:srgbClr val="7C4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2DA47-E667-46EE-9984-C3807AE8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CA399-57B0-4BC5-8FE1-C98EA54D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145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Exporters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E3152-C2B1-4292-8EA3-506320DC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4317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Mesurent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5DF17-1815-4CFC-BF8E-85DBD4E8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3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8D8E2-872B-4CE4-BAD9-1871BB9C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FE34F-A2FC-41A6-AE0F-DBAD813A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51DE4-0591-4B14-8905-B3A2532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DFB0C-6927-4F9E-BC1E-D2E97231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145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Prometheus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8B43E-1860-4317-9252-EDF536E6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4317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Collecte + conserve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DE594-80E4-4B8B-ABEE-0AC953CA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3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E859F-93D6-4E67-B662-A5966A9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3372B-1A13-4888-98E6-1F9483AD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F0244-2AE8-4B6B-8B1A-DDC80D47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19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16B05-3769-45D3-A26F-5D5AA38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145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Flask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FC38A-FDFC-4FEF-A6EF-741FC851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4317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Synthétise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0CBF1-E671-4FE1-9BFE-EA034D47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3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A24F4-3B1D-430F-959B-3590DC64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4F383-F914-4FAC-B16C-CDC8DAE9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E5781-7F17-4225-98BC-8243DEA3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19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6B39C6-6388-4E97-B8CB-154C5AEB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145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Grafana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A8759C-4323-4141-AB78-C1F926E5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4317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Explore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7400AA-B78D-4533-98DD-089BA9DD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3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43595C-1DB0-4DCF-887C-2A517A76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38375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A1D059-8B93-4189-921B-49CD0F4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B5B"/>
          </a:solidFill>
          <a:ln xmlns:a="http://schemas.openxmlformats.org/drawingml/2006/main" w="0">
            <a:solidFill>
              <a:srgbClr val="E84B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B9A4C4-581C-4DE1-A3DB-35C2D216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19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0D41B6-BF81-4BF5-BAA8-2676BE5B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145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Alertmanager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184032-FC79-492C-BA32-C8BE10A8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4317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E"/>
                </a:solidFill>
              </a:defRPr>
            </a:pPr>
            <a:r>
              <a:rPr sz="825" b="0">
                <a:solidFill>
                  <a:srgbClr val="61708E"/>
                </a:solidFill>
              </a:rPr>
              <a:t>Notifie Telegram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BB167B-CCF6-45F5-AB5B-0D206400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1009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97B772-5F21-4695-83EC-8C613432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Node Exporter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F60801-793F-44FC-B9A9-A65ABC94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E"/>
                </a:solidFill>
              </a:defRPr>
            </a:pPr>
            <a:r>
              <a:rPr sz="1050" b="0">
                <a:solidFill>
                  <a:srgbClr val="61708E"/>
                </a:solidFill>
              </a:rPr>
              <a:t>CPU, RAM, disque, réseau, charge, uptime Linux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5D9CFB-B590-418F-B219-E19DAE89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0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Windows Exporter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26E013-2D86-45DF-A778-F0755D52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E"/>
                </a:solidFill>
              </a:defRPr>
            </a:pPr>
            <a:r>
              <a:rPr sz="1050" b="0">
                <a:solidFill>
                  <a:srgbClr val="61708E"/>
                </a:solidFill>
              </a:rPr>
              <a:t>CPU, mémoire, disque, réseau et système Windows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35423E-7DC5-42C9-B036-3854692C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10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Collecteur batterie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DAC25D-28CE-4AC6-9038-C7132DC1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E"/>
                </a:solidFill>
              </a:defRPr>
            </a:pPr>
            <a:r>
              <a:rPr sz="1050" b="0">
                <a:solidFill>
                  <a:srgbClr val="61708E"/>
                </a:solidFill>
              </a:rPr>
              <a:t>Charge, secteur, présence, état de charge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62FEF9-E5A3-4FBE-B93D-882916D2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4"/>
                </a:solidFill>
              </a:defRPr>
            </a:pPr>
            <a:r>
              <a:rPr sz="1275" b="1">
                <a:solidFill>
                  <a:srgbClr val="101C34"/>
                </a:solidFill>
              </a:rPr>
              <a:t>cAdvisor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F186B4-DA54-4877-ACD4-BFB0F21B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E"/>
                </a:solidFill>
              </a:defRPr>
            </a:pPr>
            <a:r>
              <a:rPr sz="1050" b="0">
                <a:solidFill>
                  <a:srgbClr val="61708E"/>
                </a:solidFill>
              </a:rPr>
              <a:t>CPU, RAM, réseau et stockage des conteneurs</a:t>
            </a:r>
          </a:p>
        </p:txBody>
      </p:sp>
    </p:spTree>
    <p:extLst>
      <p:ext uri="{BB962C8B-B14F-4D97-AF65-F5344CB8AC3E}">
        <p14:creationId xmlns:p14="http://schemas.microsoft.com/office/powerpoint/2010/main" val="1360731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B1C0E0-243D-4441-A05B-7A4FEF50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6DF15-4571-4787-9958-2DEB82EB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CE QUI EST MONITORÉ SUR LE VPS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7DE3A-8F4A-4E1B-8588-38C23F3E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Le cœur de production est observé à trois niveaux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1AD66-7675-4CAE-98CA-9A0E640D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Machine Linux, conteneurs Docker et disponibilité applicative.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5C159-B222-4320-866D-E38FC9A3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5F094-B161-4FE2-95B0-01967207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E974D-1037-42C2-A06B-59B4C863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8E"/>
                </a:solidFill>
              </a:defRPr>
            </a:pPr>
            <a:r>
              <a:rPr sz="975" b="1">
                <a:solidFill>
                  <a:srgbClr val="61708E"/>
                </a:solidFill>
              </a:rPr>
              <a:t>CPU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09E1A-CEEB-4AE4-B252-EF37820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C34"/>
                </a:solidFill>
              </a:defRPr>
            </a:pPr>
            <a:r>
              <a:rPr sz="2025" b="1">
                <a:solidFill>
                  <a:srgbClr val="101C34"/>
                </a:solidFill>
              </a:rPr>
              <a:t>% + charge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478C2-11DC-4CD5-9D49-83189B9B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69E8"/>
                </a:solidFill>
              </a:defRPr>
            </a:pPr>
            <a:r>
              <a:rPr sz="900" b="0">
                <a:solidFill>
                  <a:srgbClr val="1769E8"/>
                </a:solidFill>
              </a:rPr>
              <a:t>par cœur et consolidé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25F08-2956-482F-B348-CFBE4DF4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C454A-36EA-4F4A-BD52-C465CA1B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669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8E"/>
                </a:solidFill>
              </a:defRPr>
            </a:pPr>
            <a:r>
              <a:rPr sz="975" b="1">
                <a:solidFill>
                  <a:srgbClr val="61708E"/>
                </a:solidFill>
              </a:rPr>
              <a:t>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3768D-7C8A-4265-8385-572CEE29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86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C34"/>
                </a:solidFill>
              </a:defRPr>
            </a:pPr>
            <a:r>
              <a:rPr sz="2025" b="1">
                <a:solidFill>
                  <a:srgbClr val="101C34"/>
                </a:solidFill>
              </a:rPr>
              <a:t>utilisée / disponible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F4F24-8E7B-4ECE-8E53-AFF85360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765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EAD7A"/>
                </a:solidFill>
              </a:defRPr>
            </a:pPr>
            <a:r>
              <a:rPr sz="900" b="0">
                <a:solidFill>
                  <a:srgbClr val="0EAD7A"/>
                </a:solidFill>
              </a:rPr>
              <a:t>pression mémoire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CA346-930C-4A1F-AF86-E59F6362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F3071-05A2-47C9-BBA1-949A2B74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669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8E"/>
                </a:solidFill>
              </a:defRPr>
            </a:pPr>
            <a:r>
              <a:rPr sz="975" b="1">
                <a:solidFill>
                  <a:srgbClr val="61708E"/>
                </a:solidFill>
              </a:rPr>
              <a:t>Disque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390AC-070F-47DA-B74E-09125A05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C34"/>
                </a:solidFill>
              </a:defRPr>
            </a:pPr>
            <a:r>
              <a:rPr sz="2025" b="1">
                <a:solidFill>
                  <a:srgbClr val="101C34"/>
                </a:solidFill>
              </a:rPr>
              <a:t>capacité + I/O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E88C6-9383-4171-9826-0078D8A1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765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B942"/>
                </a:solidFill>
              </a:defRPr>
            </a:pPr>
            <a:r>
              <a:rPr sz="900" b="0">
                <a:solidFill>
                  <a:srgbClr val="F5B942"/>
                </a:solidFill>
              </a:rPr>
              <a:t>occupation et débit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C2C58-F62B-4AA0-9CA0-9160C2D9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876A9-9785-42F8-B9AA-95AC63E8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669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8E"/>
                </a:solidFill>
              </a:defRPr>
            </a:pPr>
            <a:r>
              <a:rPr sz="975" b="1">
                <a:solidFill>
                  <a:srgbClr val="61708E"/>
                </a:solidFill>
              </a:rPr>
              <a:t>Réseau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CD057-554E-4B91-9618-3AF6591B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86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C34"/>
                </a:solidFill>
              </a:defRPr>
            </a:pPr>
            <a:r>
              <a:rPr sz="2025" b="1">
                <a:solidFill>
                  <a:srgbClr val="101C34"/>
                </a:solidFill>
              </a:rPr>
              <a:t>débit + erreurs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F964C-2E13-4231-BF40-20742ABA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765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4DFF"/>
                </a:solidFill>
              </a:defRPr>
            </a:pPr>
            <a:r>
              <a:rPr sz="900" b="0">
                <a:solidFill>
                  <a:srgbClr val="7C4DFF"/>
                </a:solidFill>
              </a:rPr>
              <a:t>réception et émission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21B9C-9989-46CB-9A2B-99B612C6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24DC5-314E-4612-B20B-5C3CFACE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8E"/>
                </a:solidFill>
              </a:defRPr>
            </a:pPr>
            <a:r>
              <a:rPr sz="975" b="1">
                <a:solidFill>
                  <a:srgbClr val="61708E"/>
                </a:solidFill>
              </a:rPr>
              <a:t>Uptime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22CA9-6B7D-4157-9A75-1CF1FD86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C34"/>
                </a:solidFill>
              </a:defRPr>
            </a:pPr>
            <a:r>
              <a:rPr sz="2025" b="1">
                <a:solidFill>
                  <a:srgbClr val="101C34"/>
                </a:solidFill>
              </a:rPr>
              <a:t>durée de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C5F2A7-0FFA-4C62-B358-90CD73D7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147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EAD7A"/>
                </a:solidFill>
              </a:defRPr>
            </a:pPr>
            <a:r>
              <a:rPr sz="900" b="0">
                <a:solidFill>
                  <a:srgbClr val="0EAD7A"/>
                </a:solidFill>
              </a:rPr>
              <a:t>redémarrage et stabilité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8C4C4-493F-462F-8107-75B3FA47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90875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09240A-2A60-40A2-B444-CA6408A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051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8E"/>
                </a:solidFill>
              </a:defRPr>
            </a:pPr>
            <a:r>
              <a:rPr sz="975" b="1">
                <a:solidFill>
                  <a:srgbClr val="61708E"/>
                </a:solidFill>
              </a:rPr>
              <a:t>Docker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5D1C2-EE5C-4166-BDC1-1F6B5CED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242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C34"/>
                </a:solidFill>
              </a:defRPr>
            </a:pPr>
            <a:r>
              <a:rPr sz="2025" b="1">
                <a:solidFill>
                  <a:srgbClr val="101C34"/>
                </a:solidFill>
              </a:rPr>
              <a:t>6 conteneurs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3EF543-8045-4BE9-ACD0-53236F44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147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69E8"/>
                </a:solidFill>
              </a:defRPr>
            </a:pPr>
            <a:r>
              <a:rPr sz="900" b="0">
                <a:solidFill>
                  <a:srgbClr val="1769E8"/>
                </a:solidFill>
              </a:rPr>
              <a:t>CPU, RAM, réseau, FS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680A06-1F43-4DA1-ABCE-1D56EC65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90875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CDF3E1-7C8B-4F01-8CDA-FE577D5F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051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8E"/>
                </a:solidFill>
              </a:defRPr>
            </a:pPr>
            <a:r>
              <a:rPr sz="975" b="1">
                <a:solidFill>
                  <a:srgbClr val="61708E"/>
                </a:solidFill>
              </a:rPr>
              <a:t>Services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C6D623-2604-451E-A13B-E788B32E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C34"/>
                </a:solidFill>
              </a:defRPr>
            </a:pPr>
            <a:r>
              <a:rPr sz="2025" b="1">
                <a:solidFill>
                  <a:srgbClr val="101C34"/>
                </a:solidFill>
              </a:rPr>
              <a:t>santé réelle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0879F6-D9D0-481F-8319-C7CF10EE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147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4B5B"/>
                </a:solidFill>
              </a:defRPr>
            </a:pPr>
            <a:r>
              <a:rPr sz="900" b="0">
                <a:solidFill>
                  <a:srgbClr val="E84B5B"/>
                </a:solidFill>
              </a:rPr>
              <a:t>Flask, Prometheus, Grafana…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06657C-A4D1-4111-B141-49F5D298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C514-6556-4603-BAC2-EAC65258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051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8E"/>
                </a:solidFill>
              </a:defRPr>
            </a:pPr>
            <a:r>
              <a:rPr sz="975" b="1">
                <a:solidFill>
                  <a:srgbClr val="61708E"/>
                </a:solidFill>
              </a:rPr>
              <a:t>Publication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67C76-BFB2-4365-9524-36BF265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5242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C34"/>
                </a:solidFill>
              </a:defRPr>
            </a:pPr>
            <a:r>
              <a:rPr sz="2025" b="1">
                <a:solidFill>
                  <a:srgbClr val="101C34"/>
                </a:solidFill>
              </a:rPr>
              <a:t>HTTP + tunnel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5E28D2-15F6-4DAF-997B-D7C86F91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147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B942"/>
                </a:solidFill>
              </a:defRPr>
            </a:pPr>
            <a:r>
              <a:rPr sz="900" b="0">
                <a:solidFill>
                  <a:srgbClr val="F5B942"/>
                </a:solidFill>
              </a:rPr>
              <a:t>Nginx et Cloudflare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795A94-63D3-48C6-96E3-AF69C82C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99536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0EAD7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60B383-6874-405C-8DBF-ECBCE7D4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D7A"/>
                </a:solidFill>
              </a:defRPr>
            </a:pPr>
            <a:r>
              <a:rPr sz="1125" b="1">
                <a:solidFill>
                  <a:srgbClr val="0EAD7A"/>
                </a:solidFill>
              </a:rPr>
              <a:t>Important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10D781-CD34-44B6-99DC-CD927359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10125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C34"/>
                </a:solidFill>
              </a:defRPr>
            </a:pPr>
            <a:r>
              <a:rPr sz="1425" b="1">
                <a:solidFill>
                  <a:srgbClr val="101C34"/>
                </a:solidFill>
              </a:rPr>
              <a:t>Le chiffre « VPS Production » représente les ressources du VPS OVH qui héberge toute la plateforme, pas celles d’une ancienne VM.</a:t>
            </a:r>
          </a:p>
        </p:txBody>
      </p:sp>
    </p:spTree>
    <p:extLst>
      <p:ext uri="{BB962C8B-B14F-4D97-AF65-F5344CB8AC3E}">
        <p14:creationId xmlns:p14="http://schemas.microsoft.com/office/powerpoint/2010/main" val="16286914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42E3D-DE4C-4507-A7FC-C92AA1F3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A8EE9-E575-41FA-8477-5A3D313A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PREUVE : PC EMMANUEL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8AEB0-2528-4105-837F-DF45ECF1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Une source Windows distante réellement connectée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686A4-C6B5-4668-9F68-8A83E3F2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Le PC reste un poste d’administration ; ses métriques remontent par Tailscale.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95DF1-12DC-4383-892D-81B0A158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d53c40d164d11"/>
          <a:stretch xmlns:a="http://schemas.openxmlformats.org/drawingml/2006/main"/>
        </p:blipFill>
        <p:spPr>
          <a:xfrm xmlns:a="http://schemas.openxmlformats.org/drawingml/2006/main">
            <a:off x="762000" y="1859022"/>
            <a:ext cx="8096250" cy="3997205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0FD06-A77A-45EF-93ED-23A0A37B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2238375" cy="352425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CE116-F62F-4B53-940F-DCF449BF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43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E8"/>
                </a:solidFill>
              </a:defRPr>
            </a:pPr>
            <a:r>
              <a:rPr sz="1350" b="1">
                <a:solidFill>
                  <a:srgbClr val="1769E8"/>
                </a:solidFill>
              </a:rPr>
              <a:t>Mesures visibles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4E79D-44B0-4E27-871B-31DFCDEF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F3A00-E8A6-4D15-A4F5-86F0FF76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C34"/>
                </a:solidFill>
              </a:defRPr>
            </a:pPr>
            <a:r>
              <a:rPr sz="1050" b="1">
                <a:solidFill>
                  <a:srgbClr val="101C34"/>
                </a:solidFill>
              </a:rPr>
              <a:t>CPU Windows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55D44-56CB-46F6-83BE-DE6EF5B3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95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81E6A-8893-4B05-9D85-96F26B82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003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C34"/>
                </a:solidFill>
              </a:defRPr>
            </a:pPr>
            <a:r>
              <a:rPr sz="1050" b="1">
                <a:solidFill>
                  <a:srgbClr val="101C34"/>
                </a:solidFill>
              </a:rPr>
              <a:t>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DE976-EDCC-42BB-8390-07742193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D4B42-8E95-40CF-A391-DC94D4C4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C34"/>
                </a:solidFill>
              </a:defRPr>
            </a:pPr>
            <a:r>
              <a:rPr sz="1050" b="0">
                <a:solidFill>
                  <a:srgbClr val="101C34"/>
                </a:solidFill>
              </a:rPr>
              <a:t>Disque principal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39B2A-E379-4B93-899E-978FC19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52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0ED18-FC97-4342-B0A1-4E4C0D5D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57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C34"/>
                </a:solidFill>
              </a:defRPr>
            </a:pPr>
            <a:r>
              <a:rPr sz="1050" b="0">
                <a:solidFill>
                  <a:srgbClr val="101C34"/>
                </a:solidFill>
              </a:rPr>
              <a:t>Réseau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9B820-DEFA-4D55-8982-29181B27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1E1DA-95C3-4E3D-B852-83B1A16C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862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C34"/>
                </a:solidFill>
              </a:defRPr>
            </a:pPr>
            <a:r>
              <a:rPr sz="1050" b="0">
                <a:solidFill>
                  <a:srgbClr val="101C34"/>
                </a:solidFill>
              </a:rPr>
              <a:t>Batterie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1085F-9EF7-44CF-A288-D32A62B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0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24015-7F02-47E0-BF63-A35D04FD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148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C34"/>
                </a:solidFill>
              </a:defRPr>
            </a:pPr>
            <a:r>
              <a:rPr sz="1050" b="0">
                <a:solidFill>
                  <a:srgbClr val="101C34"/>
                </a:solidFill>
              </a:rPr>
              <a:t>État Windows Exporter</a:t>
            </a:r>
          </a:p>
        </p:txBody>
      </p:sp>
    </p:spTree>
    <p:extLst>
      <p:ext uri="{BB962C8B-B14F-4D97-AF65-F5344CB8AC3E}">
        <p14:creationId xmlns:p14="http://schemas.microsoft.com/office/powerpoint/2010/main" val="1234579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C308E-7132-42A1-A6D9-98A9CFEB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A14DF-FC19-4E6E-B9EC-3F4B306D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PREUVE : LABORATOIRE VMWARE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CE52F-6F03-495C-9EB5-24E3EA5F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Deux VM distinctes, deux rôles pédagogiques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0FE4F-383B-4427-B111-804B2287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Elles sont maintenant supervisées par le VPS mais ne conditionnent plus la disponibilité du portail.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0C708-2377-4412-A18B-7DF1BE0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b82a513e0452a"/>
          <a:stretch xmlns:a="http://schemas.openxmlformats.org/drawingml/2006/main"/>
        </p:blipFill>
        <p:spPr>
          <a:xfrm xmlns:a="http://schemas.openxmlformats.org/drawingml/2006/main">
            <a:off x="666750" y="2094440"/>
            <a:ext cx="5238750" cy="2954869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659fbc8c14464"/>
          <a:stretch xmlns:a="http://schemas.openxmlformats.org/drawingml/2006/main"/>
        </p:blipFill>
        <p:spPr>
          <a:xfrm xmlns:a="http://schemas.openxmlformats.org/drawingml/2006/main">
            <a:off x="6286500" y="2321025"/>
            <a:ext cx="5238750" cy="2501699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CACD3-E572-48AC-AD73-E7CFA126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4191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BC27C-F29F-4AF9-B3A6-7C9C086B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7687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VM srv-web : laboratoire applicatif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ADC50-9FC6-4A1B-B45E-FD26FD82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76875"/>
            <a:ext cx="4286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FFF5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A1C9F-9FE3-4C9A-926B-1D95A787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7687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6B00"/>
                </a:solidFill>
              </a:defRPr>
            </a:pPr>
            <a:r>
              <a:rPr sz="975" b="1">
                <a:solidFill>
                  <a:srgbClr val="9A6B00"/>
                </a:solidFill>
              </a:rPr>
              <a:t>VM srv-monitoring : laboratoire observabilité</a:t>
            </a:r>
          </a:p>
        </p:txBody>
      </p:sp>
    </p:spTree>
    <p:extLst>
      <p:ext uri="{BB962C8B-B14F-4D97-AF65-F5344CB8AC3E}">
        <p14:creationId xmlns:p14="http://schemas.microsoft.com/office/powerpoint/2010/main" val="2643673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228C6C-F07A-4931-9EE9-070F1363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B6792-0064-4003-B825-0AF8D4FC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SCÉNARIOS DE DISPONIBILITÉ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947D3-8FFF-4D62-A0BE-A485ABD5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Que se passe-t-il si une machine s’éteint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80DA4-D26D-401C-8A46-D54D685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La production est conçue pour survivre à l’indisponibilité des extensions.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8743B-F3D9-4CBB-8BC6-DC31720C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6C117-2697-487D-9D6D-5094BECD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287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24602-876F-4A76-8901-47654D3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62175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F1F4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E9AD8-00DF-41DE-9BD5-9D93F48C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6217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4DFF"/>
                </a:solidFill>
              </a:defRPr>
            </a:pPr>
            <a:r>
              <a:rPr sz="975" b="1">
                <a:solidFill>
                  <a:srgbClr val="7C4DFF"/>
                </a:solidFill>
              </a:rPr>
              <a:t>PC éteint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124D2-54E5-4990-AF48-A1D6C65E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764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AD7A"/>
                </a:solidFill>
              </a:defRPr>
            </a:pPr>
            <a:r>
              <a:rPr sz="1425" b="1">
                <a:solidFill>
                  <a:srgbClr val="0EAD7A"/>
                </a:solidFill>
              </a:rPr>
              <a:t>Portail disponible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4ECD7-ACA7-4364-93B3-595E0CB1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19300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C34"/>
                </a:solidFill>
              </a:defRPr>
            </a:pPr>
            <a:r>
              <a:rPr sz="1200" b="0">
                <a:solidFill>
                  <a:srgbClr val="101C34"/>
                </a:solidFill>
              </a:rPr>
              <a:t>Les mesures Windows s’arrêtent puis reprennent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32589-9A11-4D1A-83DE-6821651C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10287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1CADF-1133-48BC-9BA3-78F17A58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670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F1F4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A6316-87B0-457F-BBBC-3DB57DB6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670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B942"/>
                </a:solidFill>
              </a:defRPr>
            </a:pPr>
            <a:r>
              <a:rPr sz="975" b="1">
                <a:solidFill>
                  <a:srgbClr val="F5B942"/>
                </a:solidFill>
              </a:rPr>
              <a:t>Une VM éteinte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B06E8-C41F-4595-A43E-B077678B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813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AD7A"/>
                </a:solidFill>
              </a:defRPr>
            </a:pPr>
            <a:r>
              <a:rPr sz="1425" b="1">
                <a:solidFill>
                  <a:srgbClr val="0EAD7A"/>
                </a:solidFill>
              </a:rPr>
              <a:t>Portail disponible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2686F-D178-4513-A73C-999E20DF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2417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C34"/>
                </a:solidFill>
              </a:defRPr>
            </a:pPr>
            <a:r>
              <a:rPr sz="1200" b="0">
                <a:solidFill>
                  <a:srgbClr val="101C34"/>
                </a:solidFill>
              </a:rPr>
              <a:t>La VM apparaît hors ligne sans fausse panne globale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03B90-B188-40C2-BA30-ADC505BF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10287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F9E63-5B2F-4992-B9DE-2C714BBA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71925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F1F4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2D7CB-D03A-40C3-B07D-9EA76520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97192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Les deux VM éteintes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C81BB-47C9-44A5-B3D0-6AF6999A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862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AD7A"/>
                </a:solidFill>
              </a:defRPr>
            </a:pPr>
            <a:r>
              <a:rPr sz="1425" b="1">
                <a:solidFill>
                  <a:srgbClr val="0EAD7A"/>
                </a:solidFill>
              </a:rPr>
              <a:t>Portail disponible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7B303E-DB50-4577-A056-6A7C06B6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29050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C34"/>
                </a:solidFill>
              </a:defRPr>
            </a:pPr>
            <a:r>
              <a:rPr sz="1200" b="0">
                <a:solidFill>
                  <a:srgbClr val="101C34"/>
                </a:solidFill>
              </a:rPr>
              <a:t>Le laboratoire est simplement inactif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B28EB-610C-4878-BCDF-29F06EB0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10287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F80D8-17EF-4308-90BC-72FF60E8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7680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F1F4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20AAC-5E3A-4F81-B09A-CB29E883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768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84B5B"/>
                </a:solidFill>
              </a:defRPr>
            </a:pPr>
            <a:r>
              <a:rPr sz="975" b="1">
                <a:solidFill>
                  <a:srgbClr val="E84B5B"/>
                </a:solidFill>
              </a:rPr>
              <a:t>VPS éteint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0C42C-FC2C-4A33-99D4-6F551FFE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910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AD7A"/>
                </a:solidFill>
              </a:defRPr>
            </a:pPr>
            <a:r>
              <a:rPr sz="1425" b="1">
                <a:solidFill>
                  <a:srgbClr val="0EAD7A"/>
                </a:solidFill>
              </a:rPr>
              <a:t>Portail indisponible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43B5F-AE7E-45CD-BD1D-0CCB4573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3392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C34"/>
                </a:solidFill>
              </a:defRPr>
            </a:pPr>
            <a:r>
              <a:rPr sz="1200" b="0">
                <a:solidFill>
                  <a:srgbClr val="101C34"/>
                </a:solidFill>
              </a:rPr>
              <a:t>C’est le cœur de production à restaurer</a:t>
            </a:r>
          </a:p>
        </p:txBody>
      </p:sp>
    </p:spTree>
    <p:extLst>
      <p:ext uri="{BB962C8B-B14F-4D97-AF65-F5344CB8AC3E}">
        <p14:creationId xmlns:p14="http://schemas.microsoft.com/office/powerpoint/2010/main" val="19220492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99130B-4274-47DE-9AA3-95D0C66A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B214E-7A49-4AA0-9698-128286EA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SAUVEGARDES ET RESTAURATION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1D020-4546-491F-B5D2-4883D33D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Une archive n’est fiable que si elle est planifiée, vérifiée et restaurable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E053A-1E4A-4654-86E5-2039A93C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Chaque périmètre possède son propre cycle de sauvegarde.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F637D-5571-4D59-95FD-8FE458C3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EAA12-80AB-49A9-90DC-F4266BA5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61FB6-2B49-4672-B2C5-F198CE93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DDF8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5BE8A-7251-4345-8554-41B2A589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431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AD7A"/>
                </a:solidFill>
              </a:defRPr>
            </a:pPr>
            <a:r>
              <a:rPr sz="975" b="1">
                <a:solidFill>
                  <a:srgbClr val="0EAD7A"/>
                </a:solidFill>
              </a:rPr>
              <a:t>VPS Production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9EC81-F448-4ECF-B252-FCAF6AD6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C34"/>
                </a:solidFill>
              </a:defRPr>
            </a:pPr>
            <a:r>
              <a:rPr sz="1425" b="1">
                <a:solidFill>
                  <a:srgbClr val="101C34"/>
                </a:solidFill>
              </a:rPr>
              <a:t>Chaque jour vers 02:30 UTC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95BA2-D9E1-4761-949B-B1A4EE76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8E"/>
                </a:solidFill>
              </a:defRPr>
            </a:pPr>
            <a:r>
              <a:rPr sz="1125" b="0">
                <a:solidFill>
                  <a:srgbClr val="61708E"/>
                </a:solidFill>
              </a:rPr>
              <a:t>Projet + volumes + Nginx + Cloudflare + UFW + SSH + systemd + Tailscale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9474D-8C81-4A35-8337-7E205E7F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8E"/>
                </a:solidFill>
              </a:defRPr>
            </a:pPr>
            <a:r>
              <a:rPr sz="975" b="1">
                <a:solidFill>
                  <a:srgbClr val="61708E"/>
                </a:solidFill>
              </a:rPr>
              <a:t>Rétention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6094F-95AD-46B1-A42F-531B045D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D7A"/>
                </a:solidFill>
              </a:defRPr>
            </a:pPr>
            <a:r>
              <a:rPr sz="1650" b="1">
                <a:solidFill>
                  <a:srgbClr val="0EAD7A"/>
                </a:solidFill>
              </a:rPr>
              <a:t>3 générations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0C71A-908D-42B1-942A-E448F787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BC174-63B3-43AD-96CA-6E2ACF8C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772E2-2E34-4975-A8A6-23517C58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431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VM srv-web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98702-7F6C-4FF8-BDC7-003C83B2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67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C34"/>
                </a:solidFill>
              </a:defRPr>
            </a:pPr>
            <a:r>
              <a:rPr sz="1425" b="1">
                <a:solidFill>
                  <a:srgbClr val="101C34"/>
                </a:solidFill>
              </a:rPr>
              <a:t>Chaque semaine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DAC09-A4E0-4AC4-A858-4A78DADB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9087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8E"/>
                </a:solidFill>
              </a:defRPr>
            </a:pPr>
            <a:r>
              <a:rPr sz="1125" b="0">
                <a:solidFill>
                  <a:srgbClr val="61708E"/>
                </a:solidFill>
              </a:rPr>
              <a:t>Application, Docker et configurations utiles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ADC04-8A8B-420B-9088-478ED68C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8E"/>
                </a:solidFill>
              </a:defRPr>
            </a:pPr>
            <a:r>
              <a:rPr sz="975" b="1">
                <a:solidFill>
                  <a:srgbClr val="61708E"/>
                </a:solidFill>
              </a:rPr>
              <a:t>Rétention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4CE59-1B29-4A04-8EC6-5B59C6C5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76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E8"/>
                </a:solidFill>
              </a:defRPr>
            </a:pPr>
            <a:r>
              <a:rPr sz="1650" b="1">
                <a:solidFill>
                  <a:srgbClr val="1769E8"/>
                </a:solidFill>
              </a:rPr>
              <a:t>2 générations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53520-0F95-49F1-B85E-F53CE75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94B6F-3B88-4ACC-86B8-1E76F948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0A408-8642-4A0D-871B-B92DDF9E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431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B942"/>
                </a:solidFill>
              </a:defRPr>
            </a:pPr>
            <a:r>
              <a:rPr sz="975" b="1">
                <a:solidFill>
                  <a:srgbClr val="F5B942"/>
                </a:solidFill>
              </a:rPr>
              <a:t>VM srv-monitoring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D0EC6B-1185-4FCD-A07E-3356D780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C34"/>
                </a:solidFill>
              </a:defRPr>
            </a:pPr>
            <a:r>
              <a:rPr sz="1425" b="1">
                <a:solidFill>
                  <a:srgbClr val="101C34"/>
                </a:solidFill>
              </a:rPr>
              <a:t>Chaque semaine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33451-C5FB-4B91-AC6F-CD27B616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8E"/>
                </a:solidFill>
              </a:defRPr>
            </a:pPr>
            <a:r>
              <a:rPr sz="1125" b="0">
                <a:solidFill>
                  <a:srgbClr val="61708E"/>
                </a:solidFill>
              </a:rPr>
              <a:t>Prometheus, Grafana, Alertmanager et historique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08941-69D7-4492-92F0-614B7A39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8E"/>
                </a:solidFill>
              </a:defRPr>
            </a:pPr>
            <a:r>
              <a:rPr sz="975" b="1">
                <a:solidFill>
                  <a:srgbClr val="61708E"/>
                </a:solidFill>
              </a:rPr>
              <a:t>Rétention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F06B75-932B-493A-B310-EC1B37DB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B942"/>
                </a:solidFill>
              </a:defRPr>
            </a:pPr>
            <a:r>
              <a:rPr sz="1650" b="1">
                <a:solidFill>
                  <a:srgbClr val="F5B942"/>
                </a:solidFill>
              </a:rPr>
              <a:t>2 générations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0F4697-47B4-4680-A26F-2EB57EAD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0"/>
            <a:ext cx="8953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B1830"/>
          </a:solidFill>
          <a:ln xmlns:a="http://schemas.openxmlformats.org/drawingml/2006/main" w="9525">
            <a:solidFill>
              <a:srgbClr val="0B183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9CC6CF-547F-4B9A-B199-B315C829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00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SHA-256 vérifie l’intégrité • systemd lance les tâches • la rétention protège le stockage</a:t>
            </a:r>
          </a:p>
        </p:txBody>
      </p:sp>
    </p:spTree>
    <p:extLst>
      <p:ext uri="{BB962C8B-B14F-4D97-AF65-F5344CB8AC3E}">
        <p14:creationId xmlns:p14="http://schemas.microsoft.com/office/powerpoint/2010/main" val="5551141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1EF48E-EBD3-47CC-A1D7-06EA18F2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62686-ABDB-4FC6-97B4-29F4B98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SÉCURITÉ EN PROFONDEUR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2A0F9-767E-42D1-8630-BA2CA826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Plusieurs barrières indépendantes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47B59-85DE-4976-8B08-7EE6382A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Une erreur sur une couche ne doit pas exposer directement les services internes.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20EAC-F1F7-449D-B1B4-996E3992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52897-864E-4976-8922-1ADCCE43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6F54F-AC94-423A-A8CF-B5149FDF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E2804-7261-4B24-9287-D1C36468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812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4"/>
                </a:solidFill>
              </a:defRPr>
            </a:pPr>
            <a:r>
              <a:rPr sz="1350" b="1">
                <a:solidFill>
                  <a:srgbClr val="101C34"/>
                </a:solidFill>
              </a:rPr>
              <a:t>Identité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42E66-DD33-498A-BA02-8CCE5BF7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4790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E"/>
                </a:solidFill>
              </a:defRPr>
            </a:pPr>
            <a:r>
              <a:rPr sz="1050" b="0">
                <a:solidFill>
                  <a:srgbClr val="61708E"/>
                </a:solidFill>
              </a:rPr>
              <a:t>Cloudflare Access et comptes applicatifs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8E1CC-9E98-40EA-8294-378E984C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F030D-9655-485A-A561-50A4EC13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52C68-B1C2-4688-A78E-2F554B21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812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4"/>
                </a:solidFill>
              </a:defRPr>
            </a:pPr>
            <a:r>
              <a:rPr sz="1350" b="1">
                <a:solidFill>
                  <a:srgbClr val="101C34"/>
                </a:solidFill>
              </a:rPr>
              <a:t>Transport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EBAD7-990C-4684-BB80-A336F8D6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4790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E"/>
                </a:solidFill>
              </a:defRPr>
            </a:pPr>
            <a:r>
              <a:rPr sz="1050" b="0">
                <a:solidFill>
                  <a:srgbClr val="61708E"/>
                </a:solidFill>
              </a:rPr>
              <a:t>HTTPS, Tunnel Cloudflare, Tailscale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811D6-F286-4B4D-85F1-674189AB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C4DFF"/>
          </a:solidFill>
          <a:ln xmlns:a="http://schemas.openxmlformats.org/drawingml/2006/main" w="0">
            <a:solidFill>
              <a:srgbClr val="7C4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B33FF-8EBD-4735-989E-39E8705D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2A338-E353-4EC1-8880-E32E0D09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4"/>
                </a:solidFill>
              </a:defRPr>
            </a:pPr>
            <a:r>
              <a:rPr sz="1350" b="1">
                <a:solidFill>
                  <a:srgbClr val="101C34"/>
                </a:solidFill>
              </a:rPr>
              <a:t>Réseau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A99C1-B8C2-4663-BDE0-5626E37B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E"/>
                </a:solidFill>
              </a:defRPr>
            </a:pPr>
            <a:r>
              <a:rPr sz="1050" b="0">
                <a:solidFill>
                  <a:srgbClr val="61708E"/>
                </a:solidFill>
              </a:rPr>
              <a:t>UFW et ports internes en 127.0.0.1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92037-B9FF-44F7-8C1C-2D3A48E1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9E463-424D-4FAB-9319-854BC9E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9274A-9FD3-4054-A573-569CE623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099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4"/>
                </a:solidFill>
              </a:defRPr>
            </a:pPr>
            <a:r>
              <a:rPr sz="1350" b="1">
                <a:solidFill>
                  <a:srgbClr val="101C34"/>
                </a:solidFill>
              </a:rPr>
              <a:t>Administration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8268B-3225-4DC6-B4ED-92C90FF0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E"/>
                </a:solidFill>
              </a:defRPr>
            </a:pPr>
            <a:r>
              <a:rPr sz="1050" b="0">
                <a:solidFill>
                  <a:srgbClr val="61708E"/>
                </a:solidFill>
              </a:rPr>
              <a:t>SSH Ed25519, mots de passe SSH désactivés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57252-4210-4784-BB8E-00454532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81375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84B5B"/>
          </a:solidFill>
          <a:ln xmlns:a="http://schemas.openxmlformats.org/drawingml/2006/main" w="0">
            <a:solidFill>
              <a:srgbClr val="E84B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0928B-9A8E-4464-96B7-891A47AD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81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E96E4-D15F-4701-9F7B-45B32812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4"/>
                </a:solidFill>
              </a:defRPr>
            </a:pPr>
            <a:r>
              <a:rPr sz="1350" b="1">
                <a:solidFill>
                  <a:srgbClr val="101C34"/>
                </a:solidFill>
              </a:rPr>
              <a:t>Secrets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265BF-7A29-40F4-B9D4-04CE3FCC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E"/>
                </a:solidFill>
              </a:defRPr>
            </a:pPr>
            <a:r>
              <a:rPr sz="1050" b="0">
                <a:solidFill>
                  <a:srgbClr val="61708E"/>
                </a:solidFill>
              </a:rPr>
              <a:t>Fichiers privés hors Git, permissions limitées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2728D0-190B-447B-B416-64A4186B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81375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4E79F7"/>
          </a:solidFill>
          <a:ln xmlns:a="http://schemas.openxmlformats.org/drawingml/2006/main" w="0">
            <a:solidFill>
              <a:srgbClr val="4E79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EA17F-F530-4328-8708-39A9704D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81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0A98A7-AFD2-4070-B33B-6A5031B7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099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4"/>
                </a:solidFill>
              </a:defRPr>
            </a:pPr>
            <a:r>
              <a:rPr sz="1350" b="1">
                <a:solidFill>
                  <a:srgbClr val="101C34"/>
                </a:solidFill>
              </a:rPr>
              <a:t>Intégrité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8A659-EBB7-4F5B-B2C4-60215EC3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766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E"/>
                </a:solidFill>
              </a:defRPr>
            </a:pPr>
            <a:r>
              <a:rPr sz="1050" b="0">
                <a:solidFill>
                  <a:srgbClr val="61708E"/>
                </a:solidFill>
              </a:rPr>
              <a:t>SHA-256, sauvegardes et 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17270-612C-47A7-8EE2-6443BBF8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DFD6E-713D-467D-B8D8-76F0EC12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62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6B00"/>
                </a:solidFill>
              </a:defRPr>
            </a:pPr>
            <a:r>
              <a:rPr sz="1125" b="1">
                <a:solidFill>
                  <a:srgbClr val="9A6B00"/>
                </a:solidFill>
              </a:rPr>
              <a:t>À retenir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A9335-95B1-40F9-A155-8DEFBDAA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958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4"/>
                </a:solidFill>
              </a:defRPr>
            </a:pPr>
            <a:r>
              <a:rPr sz="1350" b="1">
                <a:solidFill>
                  <a:srgbClr val="101C34"/>
                </a:solidFill>
              </a:rPr>
              <a:t>Prometheus, Grafana et les exporters ne doivent jamais être exposés directement à Internet.</a:t>
            </a:r>
          </a:p>
        </p:txBody>
      </p:sp>
    </p:spTree>
    <p:extLst>
      <p:ext uri="{BB962C8B-B14F-4D97-AF65-F5344CB8AC3E}">
        <p14:creationId xmlns:p14="http://schemas.microsoft.com/office/powerpoint/2010/main" val="14797234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FD5A1E-99FB-4C3E-95DF-E50E4FA1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6BA8C-906C-49BF-97A4-B8DB8EC4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</a:defRPr>
            </a:pPr>
            <a:r>
              <a:rPr sz="975" b="1">
                <a:solidFill>
                  <a:srgbClr val="1769E8"/>
                </a:solidFill>
              </a:rPr>
              <a:t>CARTE DES TECHNOLOGIES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68B29-6FA8-464A-B5E0-9CC69A82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C34"/>
                </a:solidFill>
              </a:defRPr>
            </a:pPr>
            <a:r>
              <a:rPr sz="2325" b="1">
                <a:solidFill>
                  <a:srgbClr val="101C34"/>
                </a:solidFill>
              </a:rPr>
              <a:t>Qui fait quoi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A5CF9-BDCF-43D0-B9CD-4F0EC6C0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E"/>
                </a:solidFill>
              </a:defRPr>
            </a:pPr>
            <a:r>
              <a:rPr sz="1275" b="0">
                <a:solidFill>
                  <a:srgbClr val="61708E"/>
                </a:solidFill>
              </a:rPr>
              <a:t>Une vue compacte à conserver comme aide-mémoire.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F6E45-2CF7-43F1-A741-31BA7FBF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63481-D826-4835-A918-7F432237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695D6-5F4B-4415-A7CC-98F0493A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B183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41FF3-5A4D-43D3-BF45-536C95D4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050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830"/>
                </a:solidFill>
              </a:defRPr>
            </a:pPr>
            <a:r>
              <a:rPr sz="1275" b="1">
                <a:solidFill>
                  <a:srgbClr val="0B1830"/>
                </a:solidFill>
              </a:rPr>
              <a:t>Hébergement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D4F70-43CF-494F-A18E-18B3A8FE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85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C34"/>
                </a:solidFill>
              </a:defRPr>
            </a:pPr>
            <a:r>
              <a:rPr sz="1125" b="0">
                <a:solidFill>
                  <a:srgbClr val="101C34"/>
                </a:solidFill>
              </a:rPr>
              <a:t>OVH VPS • Ubuntu • Docker • Compose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E9366-3869-4995-9D4D-A8732351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B6679-F8FC-45C4-9ADB-4ADD3B75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B5B06-99DF-4330-8D32-CD2C5E12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9050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E8"/>
                </a:solidFill>
              </a:defRPr>
            </a:pPr>
            <a:r>
              <a:rPr sz="1275" b="1">
                <a:solidFill>
                  <a:srgbClr val="1769E8"/>
                </a:solidFill>
              </a:rP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15D2E-169F-4498-A0CA-548E815E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C34"/>
                </a:solidFill>
              </a:defRPr>
            </a:pPr>
            <a:r>
              <a:rPr sz="1125" b="0">
                <a:solidFill>
                  <a:srgbClr val="101C34"/>
                </a:solidFill>
              </a:rPr>
              <a:t>Python • Flask • Gunicorn • Nginx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C0CE4-0F19-4AE9-A2F6-3519BB93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21F2E-327A-43CA-9C52-34406BA6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FBBED-B5FE-4434-83A0-EF3C8C3D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051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AD7A"/>
                </a:solidFill>
              </a:defRPr>
            </a:pPr>
            <a:r>
              <a:rPr sz="1275" b="1">
                <a:solidFill>
                  <a:srgbClr val="0EAD7A"/>
                </a:solidFill>
              </a:rPr>
              <a:t>Publication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FC274-41BF-4549-A163-B098168F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860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C34"/>
                </a:solidFill>
              </a:defRPr>
            </a:pPr>
            <a:r>
              <a:rPr sz="1125" b="0">
                <a:solidFill>
                  <a:srgbClr val="101C34"/>
                </a:solidFill>
              </a:rPr>
              <a:t>Cloudflare DNS • Tunnel •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8130A-AC7F-4CF3-AB87-56965736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9875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9BFFF-B7DB-4D5E-B303-C268D080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9875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DFF"/>
          </a:solidFill>
          <a:ln xmlns:a="http://schemas.openxmlformats.org/drawingml/2006/main" w="0">
            <a:solidFill>
              <a:srgbClr val="7C4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D2C5D-2242-4A9F-A89C-659DE9A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051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4DFF"/>
                </a:solidFill>
              </a:defRPr>
            </a:pPr>
            <a:r>
              <a:rPr sz="1275" b="1">
                <a:solidFill>
                  <a:srgbClr val="7C4DFF"/>
                </a:solidFill>
              </a:rPr>
              <a:t>Réseau privé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E6EE2-083B-4E3E-B46A-D0010839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C34"/>
                </a:solidFill>
              </a:defRPr>
            </a:pPr>
            <a:r>
              <a:rPr sz="1125" b="0">
                <a:solidFill>
                  <a:srgbClr val="101C34"/>
                </a:solidFill>
              </a:rPr>
              <a:t>Tailscale • UFW • SSH Ed25519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F1190-4A0E-4289-BC77-6177E8E3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44BC6-44C1-49E1-AC8F-3E8D4AF6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25783-DA11-417E-8712-B7F1F4FD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052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</a:defRPr>
            </a:pPr>
            <a:r>
              <a:rPr sz="1275" b="1">
                <a:solidFill>
                  <a:srgbClr val="F5B942"/>
                </a:solidFill>
              </a:rPr>
              <a:t>Mesure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C237F-0215-4498-A52D-221F72EB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C34"/>
                </a:solidFill>
              </a:defRPr>
            </a:pPr>
            <a:r>
              <a:rPr sz="1125" b="0">
                <a:solidFill>
                  <a:srgbClr val="101C34"/>
                </a:solidFill>
              </a:rPr>
              <a:t>Node Exporter • Windows Exporter • cAdvisor • Batterie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74F13E-6BF8-4628-91F3-65E2BDDE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0000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617A0C-5C27-4451-9358-B27F30EF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000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B5B"/>
          </a:solidFill>
          <a:ln xmlns:a="http://schemas.openxmlformats.org/drawingml/2006/main" w="0">
            <a:solidFill>
              <a:srgbClr val="E84B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DDCCA8-17CE-4811-87A5-E9286A8F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9052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4B5B"/>
                </a:solidFill>
              </a:defRPr>
            </a:pPr>
            <a:r>
              <a:rPr sz="1275" b="1">
                <a:solidFill>
                  <a:srgbClr val="E84B5B"/>
                </a:solidFill>
              </a:rPr>
              <a:t>Observabilité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A9B2ED-195B-42A4-A8EA-C1B9F6E0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C34"/>
                </a:solidFill>
              </a:defRPr>
            </a:pPr>
            <a:r>
              <a:rPr sz="1125" b="0">
                <a:solidFill>
                  <a:srgbClr val="101C34"/>
                </a:solidFill>
              </a:rPr>
              <a:t>Prometheus • Grafana • Alertmanager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F55178-3614-45B1-B281-BD270024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650D5A-28BD-4192-8F43-FA0A7AD9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F7"/>
          </a:solidFill>
          <a:ln xmlns:a="http://schemas.openxmlformats.org/drawingml/2006/main" w="0">
            <a:solidFill>
              <a:srgbClr val="4E79F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2C2470-3540-4FA6-9AF8-3DD101D4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053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E79F7"/>
                </a:solidFill>
              </a:defRPr>
            </a:pPr>
            <a:r>
              <a:rPr sz="1275" b="1">
                <a:solidFill>
                  <a:srgbClr val="4E79F7"/>
                </a:solidFill>
              </a:rPr>
              <a:t>Automatisation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F03C73-1182-4CC6-8253-B32DFD7F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863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C34"/>
                </a:solidFill>
              </a:defRPr>
            </a:pPr>
            <a:r>
              <a:rPr sz="1125" b="0">
                <a:solidFill>
                  <a:srgbClr val="101C34"/>
                </a:solidFill>
              </a:rPr>
              <a:t>systemd • PowerShell • scripts Bash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E8F13B-0CDF-45D6-A477-7D6473B2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B3543D-4BF0-4EF5-AE49-B03F953E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D7A"/>
          </a:solidFill>
          <a:ln xmlns:a="http://schemas.openxmlformats.org/drawingml/2006/main" w="0">
            <a:solidFill>
              <a:srgbClr val="0EAD7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816A0F-5446-4C1C-8DE7-3389E44A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9053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AD7A"/>
                </a:solidFill>
              </a:defRPr>
            </a:pPr>
            <a:r>
              <a:rPr sz="1275" b="1">
                <a:solidFill>
                  <a:srgbClr val="0EAD7A"/>
                </a:solidFill>
              </a:rPr>
              <a:t>Qualité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4AF22E-F71C-444F-832C-2B10979C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863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C34"/>
                </a:solidFill>
              </a:defRPr>
            </a:pPr>
            <a:r>
              <a:rPr sz="1125" b="0">
                <a:solidFill>
                  <a:srgbClr val="101C34"/>
                </a:solidFill>
              </a:rPr>
              <a:t>Git • GitHub • SHA-256 • tests</a:t>
            </a:r>
          </a:p>
        </p:txBody>
      </p:sp>
    </p:spTree>
    <p:extLst>
      <p:ext uri="{BB962C8B-B14F-4D97-AF65-F5344CB8AC3E}">
        <p14:creationId xmlns:p14="http://schemas.microsoft.com/office/powerpoint/2010/main" val="20602565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79714-F703-4C6E-9577-30616440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E"/>
                </a:solidFill>
              </a:defRPr>
            </a:pPr>
            <a:r>
              <a:rPr sz="750" b="0">
                <a:solidFill>
                  <a:srgbClr val="61708E"/>
                </a:solidFill>
              </a:rPr>
              <a:t>Secure Local Cloud v1.1.0  • 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31B32-F482-46D5-9183-6605EEC1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D7A"/>
          </a:solidFill>
          <a:ln xmlns:a="http://schemas.openxmlformats.org/drawingml/2006/main" w="9525">
            <a:solidFill>
              <a:srgbClr val="0EAD7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56002-8F4F-46A4-9C90-EDCCDBF2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830"/>
                </a:solidFill>
              </a:defRPr>
            </a:pPr>
            <a:r>
              <a:rPr sz="975" b="1">
                <a:solidFill>
                  <a:srgbClr val="0B1830"/>
                </a:solidFill>
              </a:rPr>
              <a:t>SYNTHÈSE FINALE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AD3F1-92F4-429C-B467-4DB446F2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Ce que nous avons construit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EAB00-409C-4240-8508-A7534253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7D8F4"/>
                </a:solidFill>
              </a:defRPr>
            </a:pPr>
            <a:r>
              <a:rPr sz="1725" b="0">
                <a:solidFill>
                  <a:srgbClr val="C7D8F4"/>
                </a:solidFill>
              </a:rPr>
              <a:t>Une plateforme de supervision autonome, sécurisée, sauvegardée et extensible.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1B82C-1B52-4369-B0A9-F6EBA3FD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2746"/>
          </a:solidFill>
          <a:ln xmlns:a="http://schemas.openxmlformats.org/drawingml/2006/main" w="9525">
            <a:solidFill>
              <a:srgbClr val="294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54D20-440B-41AC-A291-7B9F564A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82945-9CA8-4929-A0E4-3892AC31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BD1F7"/>
                </a:solidFill>
              </a:defRPr>
            </a:pPr>
            <a:r>
              <a:rPr sz="1125" b="1">
                <a:solidFill>
                  <a:srgbClr val="BBD1F7"/>
                </a:solidFill>
              </a:rPr>
              <a:t>VPS Production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32901-FB8C-49FE-A715-68ED8CFF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A9CD"/>
                </a:solidFill>
              </a:defRPr>
            </a:pPr>
            <a:r>
              <a:rPr sz="975" b="0">
                <a:solidFill>
                  <a:srgbClr val="8FA9CD"/>
                </a:solidFill>
              </a:rPr>
              <a:t>cœur permanent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DE59F-71A5-4123-B31D-981D0D4B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2746"/>
          </a:solidFill>
          <a:ln xmlns:a="http://schemas.openxmlformats.org/drawingml/2006/main" w="9525">
            <a:solidFill>
              <a:srgbClr val="294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4CFD1-9C54-4322-80F3-FD4FBBF8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95625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F3821-88FA-4460-A7DF-592FC5EC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004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BD1F7"/>
                </a:solidFill>
              </a:defRPr>
            </a:pPr>
            <a:r>
              <a:rPr sz="1125" b="1">
                <a:solidFill>
                  <a:srgbClr val="BBD1F7"/>
                </a:solidFill>
              </a:rPr>
              <a:t>extensions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88482-9D83-4BE1-8095-7D3353B8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5762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A9CD"/>
                </a:solidFill>
              </a:defRPr>
            </a:pPr>
            <a:r>
              <a:rPr sz="975" b="0">
                <a:solidFill>
                  <a:srgbClr val="8FA9CD"/>
                </a:solidFill>
              </a:rPr>
              <a:t>PC + 2 VM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29D53-D47E-4C04-BADC-36310A8E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2746"/>
          </a:solidFill>
          <a:ln xmlns:a="http://schemas.openxmlformats.org/drawingml/2006/main" w="9525">
            <a:solidFill>
              <a:srgbClr val="294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0FC50-6714-45B4-8BD3-E4BD9644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7522E-D2F4-4A87-8C7E-A5621B6A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BD1F7"/>
                </a:solidFill>
              </a:defRPr>
            </a:pPr>
            <a:r>
              <a:rPr sz="1125" b="1">
                <a:solidFill>
                  <a:srgbClr val="BBD1F7"/>
                </a:solidFill>
              </a:rPr>
              <a:t>réseaux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A2DE8-C9C3-466E-9F09-D11DF309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5762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A9CD"/>
                </a:solidFill>
              </a:defRPr>
            </a:pPr>
            <a:r>
              <a:rPr sz="975" b="0">
                <a:solidFill>
                  <a:srgbClr val="8FA9CD"/>
                </a:solidFill>
              </a:rPr>
              <a:t>Cloudflare + Tailscale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8C291-EDAE-46AB-B8CF-F12C2479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2746"/>
          </a:solidFill>
          <a:ln xmlns:a="http://schemas.openxmlformats.org/drawingml/2006/main" w="9525">
            <a:solidFill>
              <a:srgbClr val="294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C51DE-762A-43AA-B6DD-9F071819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95625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AD7A"/>
                </a:solidFill>
              </a:defRPr>
            </a:pPr>
            <a:r>
              <a:rPr sz="2400" b="1">
                <a:solidFill>
                  <a:srgbClr val="0EAD7A"/>
                </a:solidFill>
              </a:rPr>
              <a:t>24/7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85D33-9F51-4E22-A13C-6701E4BB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BD1F7"/>
                </a:solidFill>
              </a:defRPr>
            </a:pPr>
            <a:r>
              <a:rPr sz="1125" b="1">
                <a:solidFill>
                  <a:srgbClr val="BBD1F7"/>
                </a:solidFill>
              </a:rPr>
              <a:t>objectif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0CCE5-CAF3-4490-A572-BA09290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5762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A9CD"/>
                </a:solidFill>
              </a:defRPr>
            </a:pPr>
            <a:r>
              <a:rPr sz="975" b="0">
                <a:solidFill>
                  <a:srgbClr val="8FA9CD"/>
                </a:solidFill>
              </a:rPr>
              <a:t>portail indépendant du PC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CB0CE-0E6C-4D3D-8247-03912451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AF328-6653-4406-A94C-3FF86C34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8"/>
                </a:solidFill>
              </a:defRPr>
            </a:pPr>
            <a:r>
              <a:rPr sz="1200" b="1">
                <a:solidFill>
                  <a:srgbClr val="1769E8"/>
                </a:solidFill>
              </a:rPr>
              <a:t>Prochaine maturité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8EBDD-206E-45A1-8A3D-079AF539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19650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C34"/>
                </a:solidFill>
              </a:defRPr>
            </a:pPr>
            <a:r>
              <a:rPr sz="1350" b="1">
                <a:solidFill>
                  <a:srgbClr val="101C34"/>
                </a:solidFill>
              </a:rPr>
              <a:t>Tester une restauration complète • ajouter une copie hors site • affiner les seuils • maintenir la documentation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84EBAC-2A55-4D61-AE79-A02CDBFD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6E3F8"/>
                </a:solidFill>
              </a:defRPr>
            </a:pPr>
            <a:r>
              <a:rPr sz="1200" b="0">
                <a:solidFill>
                  <a:srgbClr val="D6E3F8"/>
                </a:solidFill>
              </a:rPr>
              <a:t>Le laboratoire nous a appris les briques. Le VPS les rend disponibles. Tailscale reconnecte le laboratoire à la production sans la rendre dépendante.</a:t>
            </a:r>
          </a:p>
        </p:txBody>
      </p:sp>
    </p:spTree>
    <p:extLst>
      <p:ext uri="{BB962C8B-B14F-4D97-AF65-F5344CB8AC3E}">
        <p14:creationId xmlns:p14="http://schemas.microsoft.com/office/powerpoint/2010/main" val="467714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2026-08-19T10:38:28.8000000Z</dcterms:created>
  <dcterms:modified xsi:type="dcterms:W3CDTF">2026-08-19T10:38:28.8000000Z</dcterms:modified>
</coreProperties>
</file>